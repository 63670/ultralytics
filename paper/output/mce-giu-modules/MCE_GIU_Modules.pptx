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a10a79cfb54974" /><Relationship Type="http://schemas.openxmlformats.org/officeDocument/2006/relationships/extended-properties" Target="/docProps/app.xml" Id="R1c81f13bbbf74c0f" /><Relationship Type="http://schemas.openxmlformats.org/officeDocument/2006/relationships/officeDocument" Target="/ppt/presentation.xml" Id="R1c12cba7db0b43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115a72381e4753"/>
  </p:sldMasterIdLst>
  <p:notesMasterIdLst>
    <p:notesMasterId xmlns:r="http://schemas.openxmlformats.org/officeDocument/2006/relationships" r:id="R3919d4dc6af74d28"/>
  </p:notesMasterIdLst>
  <p:sldIdLst>
    <p:sldId xmlns:r="http://schemas.openxmlformats.org/officeDocument/2006/relationships" id="256" r:id="R21691971fa8c485e"/>
    <p:sldId xmlns:r="http://schemas.openxmlformats.org/officeDocument/2006/relationships" id="257" r:id="R9e90ee6941854c6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adf16696d94eeb" /><Relationship Type="http://schemas.openxmlformats.org/officeDocument/2006/relationships/slideMaster" Target="/ppt/slideMasters/slideMaster1.xml" Id="Rf3115a72381e4753" /><Relationship Type="http://schemas.openxmlformats.org/officeDocument/2006/relationships/notesMaster" Target="/ppt/notesMasters/notesMaster1.xml" Id="R3919d4dc6af74d28" /><Relationship Type="http://schemas.openxmlformats.org/officeDocument/2006/relationships/presProps" Target="/ppt/presProps.xml" Id="Rcdb941d73be7435d" /><Relationship Type="http://schemas.openxmlformats.org/officeDocument/2006/relationships/tableStyles" Target="/ppt/tableStyles.xml" Id="Re67fa69c59cb40c7" /><Relationship Type="http://schemas.openxmlformats.org/officeDocument/2006/relationships/slide" Target="/ppt/slides/slide1.xml" Id="R21691971fa8c485e" /><Relationship Type="http://schemas.openxmlformats.org/officeDocument/2006/relationships/slide" Target="/ppt/slides/slide2.xml" Id="R9e90ee6941854c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3e7553516c48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b8fde2dc0c499b" /><Relationship Type="http://schemas.openxmlformats.org/officeDocument/2006/relationships/notesMaster" Target="/ppt/notesMasters/notesMaster1.xml" Id="Rb10fa41f165d43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447bbf729f453a" /><Relationship Type="http://schemas.openxmlformats.org/officeDocument/2006/relationships/notesMaster" Target="/ppt/notesMasters/notesMaster1.xml" Id="Re0bc4c5a88e04f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ultralytics/nn/modules/block.py, C2fAxisResidual (MCE in the manuscript), and ultralytics/cfg/models/v8/yolov8n-fabric-axis-interp.yaml. The illustrated nano configuration has two retained bottlenecks at each modified stage. Only the final hidden branch is modulated. q = max(1, floor(c/4)). Descriptor addition uses spatial broadcasting. The depthwise convolutions include biases. gamma is a learned per-channel scale initialized to zero. Conv denotes the original Conv-BN-SiLU block in the C2f overview.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ultralytics/nn/modules/block.py, GatedInterpolationUpsample, and ultralytics/cfg/models/v8/yolov8n-fabric-axis-interp.yaml. The displayed convex blend is algebraically equivalent to the implemented N + G * (B - N). The gate is predicted on the coarse input using a biased 3x3 convolution from C channels to one, followed by Hardsigmoid and nearest-neighbor upsampling. Gate-convolution weights are initialized to zero and bias to -2.7, giving initial G = 0.05. The gate is shared across channels and replicated within each 2x2 block. Lateral P4 or P3 features enter only the subsequent concatenation. Bilinear interpolation uses align_corners=False.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01751659fc460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0c8e9adef04f3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443484ad9e4b2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d24a40831b49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2e30dac67e4bc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0a31bb663e4e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DB4782-7389-425E-8C3F-3C88B65F70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A7603D1-68C0-4723-A0D4-4D8A8D04E95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5623384-0C55-4A32-A95C-F00EE57560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5E7006-7AAE-4CEA-A6F0-9BD27AF3EF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EAAD711-6FAB-4757-A6BB-F135532153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5EA9756-034D-4716-97B5-06AE40AD37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9689B14-499B-4BEA-82D2-99B28C22D8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0319779-4674-4B79-A5FF-41B00F26A5D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CE4D2D-AF89-4D70-AF48-6DD5F45FDC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8379B29-DE60-418B-8275-868CD393E8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9fd6ac4706476a" /><Relationship Type="http://schemas.openxmlformats.org/officeDocument/2006/relationships/slideLayout" Target="/ppt/slideLayouts/slideLayout1.xml" Id="R1777d5da3e1a46bd" /><Relationship Type="http://schemas.openxmlformats.org/officeDocument/2006/relationships/slideLayout" Target="/ppt/slideLayouts/slideLayout2.xml" Id="R3b2ebf3442964631" /><Relationship Type="http://schemas.openxmlformats.org/officeDocument/2006/relationships/slideLayout" Target="/ppt/slideLayouts/slideLayout3.xml" Id="R7249b2a9006e4bcf" /><Relationship Type="http://schemas.openxmlformats.org/officeDocument/2006/relationships/slideLayout" Target="/ppt/slideLayouts/slideLayout4.xml" Id="R34296f0cf82348fe" /><Relationship Type="http://schemas.openxmlformats.org/officeDocument/2006/relationships/slideLayout" Target="/ppt/slideLayouts/slideLayout5.xml" Id="Rf8bc4f4ad0cb47d8" /><Relationship Type="http://schemas.openxmlformats.org/officeDocument/2006/relationships/slideLayout" Target="/ppt/slideLayouts/slideLayout6.xml" Id="R1429846a0de943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77d5da3e1a46bd"/>
    <p:sldLayoutId xmlns:r="http://schemas.openxmlformats.org/officeDocument/2006/relationships" id="2147483650" r:id="R3b2ebf3442964631"/>
    <p:sldLayoutId xmlns:r="http://schemas.openxmlformats.org/officeDocument/2006/relationships" id="2147483651" r:id="R7249b2a9006e4bcf"/>
    <p:sldLayoutId xmlns:r="http://schemas.openxmlformats.org/officeDocument/2006/relationships" id="2147483652" r:id="R34296f0cf82348fe"/>
    <p:sldLayoutId xmlns:r="http://schemas.openxmlformats.org/officeDocument/2006/relationships" id="2147483653" r:id="Rf8bc4f4ad0cb47d8"/>
    <p:sldLayoutId xmlns:r="http://schemas.openxmlformats.org/officeDocument/2006/relationships" id="2147483654" r:id="R1429846a0de943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9a19ada5f24967" /><Relationship Type="http://schemas.openxmlformats.org/officeDocument/2006/relationships/notesSlide" Target="/ppt/notesSlides/notesSlide1.xml" Id="R3457646fc0594b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d6e6125abd4190" /><Relationship Type="http://schemas.openxmlformats.org/officeDocument/2006/relationships/notesSlide" Target="/ppt/notesSlides/notesSlide2.xml" Id="R858d2815513249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001-MCE">
            <a:extLst xmlns:a="http://schemas.openxmlformats.org/drawingml/2006/main">
              <a:ext uri="{FF2B5EF4-FFF2-40B4-BE49-F238E27FC236}">
                <a16:creationId xmlns:a16="http://schemas.microsoft.com/office/drawing/2014/main" id="{AC343259-C942-4908-8D35-ACBA8D33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1458"/>
            <a:ext cx="1714500" cy="4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03" b="1">
                <a:solidFill>
                  <a:srgbClr val="2434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03" b="1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2903" b="1">
                <a:solidFill>
                  <a:srgbClr val="243445"/>
                </a:solidFill>
                <a:latin typeface="Arial"/>
                <a:ea typeface="Arial"/>
                <a:cs typeface="Arial"/>
              </a:rPr>
              <a:t>MCE</a:t>
            </a:r>
          </a:p>
        </p:txBody>
      </p:sp>
      <p:sp>
        <p:nvSpPr>
          <p:cNvPr id="2" name="002-Morphology-aware context encoding">
            <a:extLst xmlns:a="http://schemas.openxmlformats.org/drawingml/2006/main">
              <a:ext uri="{FF2B5EF4-FFF2-40B4-BE49-F238E27FC236}">
                <a16:creationId xmlns:a16="http://schemas.microsoft.com/office/drawing/2014/main" id="{3A6F38DF-095B-41D9-B191-194855A3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0038"/>
            <a:ext cx="110585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8" b="0">
                <a:solidFill>
                  <a:srgbClr val="2434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8" b="0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1958" b="0">
                <a:solidFill>
                  <a:srgbClr val="243445"/>
                </a:solidFill>
                <a:latin typeface="Arial"/>
                <a:ea typeface="Arial"/>
                <a:cs typeface="Arial"/>
              </a:rPr>
              <a:t>Morphology-aware context encoding</a:t>
            </a:r>
          </a:p>
        </p:txBody>
      </p:sp>
      <p:sp>
        <p:nvSpPr>
          <p:cNvPr id="3" name="003-flow">
            <a:extLst xmlns:a="http://schemas.openxmlformats.org/drawingml/2006/main">
              <a:ext uri="{FF2B5EF4-FFF2-40B4-BE49-F238E27FC236}">
                <a16:creationId xmlns:a16="http://schemas.microsoft.com/office/drawing/2014/main" id="{1A09F065-546B-4D7D-A650-950FE90B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925830"/>
            <a:ext cx="12687300" cy="8573"/>
          </a:xfrm>
          <a:custGeom xmlns:a="http://schemas.openxmlformats.org/drawingml/2006/main">
            <a:pathLst>
              <a:path w="14097000" h="9525">
                <a:moveTo>
                  <a:pt x="0" y="0"/>
                </a:moveTo>
                <a:lnTo>
                  <a:pt x="1409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4" name="004-(a) Integration in C2f">
            <a:extLst xmlns:a="http://schemas.openxmlformats.org/drawingml/2006/main">
              <a:ext uri="{FF2B5EF4-FFF2-40B4-BE49-F238E27FC236}">
                <a16:creationId xmlns:a16="http://schemas.microsoft.com/office/drawing/2014/main" id="{3E12CBA9-951F-418D-BBF1-F4396A38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097280"/>
            <a:ext cx="471487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55" b="1">
                <a:solidFill>
                  <a:srgbClr val="2434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55" b="1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1755" b="1">
                <a:solidFill>
                  <a:srgbClr val="243445"/>
                </a:solidFill>
                <a:latin typeface="Arial"/>
                <a:ea typeface="Arial"/>
                <a:cs typeface="Arial"/>
              </a:rPr>
              <a:t>(a) Integration in C2f</a:t>
            </a:r>
          </a:p>
        </p:txBody>
      </p:sp>
      <p:sp>
        <p:nvSpPr>
          <p:cNvPr id="5" name="005-flow">
            <a:extLst xmlns:a="http://schemas.openxmlformats.org/drawingml/2006/main">
              <a:ext uri="{FF2B5EF4-FFF2-40B4-BE49-F238E27FC236}">
                <a16:creationId xmlns:a16="http://schemas.microsoft.com/office/drawing/2014/main" id="{F71F55A9-C35F-41FF-9219-72A41CB1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968" y="2743200"/>
            <a:ext cx="402908" cy="8573"/>
          </a:xfrm>
          <a:custGeom xmlns:a="http://schemas.openxmlformats.org/drawingml/2006/main">
            <a:pathLst>
              <a:path w="447675" h="952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6" name="006-arrowhead">
            <a:extLst xmlns:a="http://schemas.openxmlformats.org/drawingml/2006/main">
              <a:ext uri="{FF2B5EF4-FFF2-40B4-BE49-F238E27FC236}">
                <a16:creationId xmlns:a16="http://schemas.microsoft.com/office/drawing/2014/main" id="{FF4F23A0-EAFB-4835-A083-D80B4ABD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0723" y="2707196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7" name="007-flow">
            <a:extLst xmlns:a="http://schemas.openxmlformats.org/drawingml/2006/main">
              <a:ext uri="{FF2B5EF4-FFF2-40B4-BE49-F238E27FC236}">
                <a16:creationId xmlns:a16="http://schemas.microsoft.com/office/drawing/2014/main" id="{3E61818C-C77E-41C3-B8B8-76D0E8C6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743200"/>
            <a:ext cx="428625" cy="8573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8" name="008-arrowhead">
            <a:extLst xmlns:a="http://schemas.openxmlformats.org/drawingml/2006/main">
              <a:ext uri="{FF2B5EF4-FFF2-40B4-BE49-F238E27FC236}">
                <a16:creationId xmlns:a16="http://schemas.microsoft.com/office/drawing/2014/main" id="{A2C2DD2D-3FC6-47DF-B4BC-915F2BC2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8048" y="2707196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9" name="009-flow">
            <a:extLst xmlns:a="http://schemas.openxmlformats.org/drawingml/2006/main">
              <a:ext uri="{FF2B5EF4-FFF2-40B4-BE49-F238E27FC236}">
                <a16:creationId xmlns:a16="http://schemas.microsoft.com/office/drawing/2014/main" id="{EAABBEFD-DF6B-40FE-B5F6-22F78B88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43200"/>
            <a:ext cx="685800" cy="8573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10" name="010-arrowhead">
            <a:extLst xmlns:a="http://schemas.openxmlformats.org/drawingml/2006/main">
              <a:ext uri="{FF2B5EF4-FFF2-40B4-BE49-F238E27FC236}">
                <a16:creationId xmlns:a16="http://schemas.microsoft.com/office/drawing/2014/main" id="{58B70D42-47E2-4EA0-B05F-40C357AD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1098" y="2707196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11" name="011-flow">
            <a:extLst xmlns:a="http://schemas.openxmlformats.org/drawingml/2006/main">
              <a:ext uri="{FF2B5EF4-FFF2-40B4-BE49-F238E27FC236}">
                <a16:creationId xmlns:a16="http://schemas.microsoft.com/office/drawing/2014/main" id="{A76C8D89-B26F-474E-BE06-8E173726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43200"/>
            <a:ext cx="771525" cy="8573"/>
          </a:xfrm>
          <a:custGeom xmlns:a="http://schemas.openxmlformats.org/drawingml/2006/main"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12" name="012-arrowhead">
            <a:extLst xmlns:a="http://schemas.openxmlformats.org/drawingml/2006/main">
              <a:ext uri="{FF2B5EF4-FFF2-40B4-BE49-F238E27FC236}">
                <a16:creationId xmlns:a16="http://schemas.microsoft.com/office/drawing/2014/main" id="{06DA3186-09D6-4BE4-816A-B0FF53708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223" y="2707196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13" name="013-flow">
            <a:extLst xmlns:a="http://schemas.openxmlformats.org/drawingml/2006/main">
              <a:ext uri="{FF2B5EF4-FFF2-40B4-BE49-F238E27FC236}">
                <a16:creationId xmlns:a16="http://schemas.microsoft.com/office/drawing/2014/main" id="{055DF258-F4B8-4B0A-83E5-E169CB06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743200"/>
            <a:ext cx="771525" cy="8573"/>
          </a:xfrm>
          <a:custGeom xmlns:a="http://schemas.openxmlformats.org/drawingml/2006/main">
            <a:pathLst>
              <a:path w="857250" h="9525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14" name="014-arrowhead">
            <a:extLst xmlns:a="http://schemas.openxmlformats.org/drawingml/2006/main">
              <a:ext uri="{FF2B5EF4-FFF2-40B4-BE49-F238E27FC236}">
                <a16:creationId xmlns:a16="http://schemas.microsoft.com/office/drawing/2014/main" id="{A8590937-9B01-467B-986E-BF9D2128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7348" y="2707196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15" name="015-flow">
            <a:extLst xmlns:a="http://schemas.openxmlformats.org/drawingml/2006/main">
              <a:ext uri="{FF2B5EF4-FFF2-40B4-BE49-F238E27FC236}">
                <a16:creationId xmlns:a16="http://schemas.microsoft.com/office/drawing/2014/main" id="{3D21AE8F-7AB7-4842-B3F6-D8AE8C36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43200"/>
            <a:ext cx="685800" cy="8573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16" name="016-arrowhead">
            <a:extLst xmlns:a="http://schemas.openxmlformats.org/drawingml/2006/main">
              <a:ext uri="{FF2B5EF4-FFF2-40B4-BE49-F238E27FC236}">
                <a16:creationId xmlns:a16="http://schemas.microsoft.com/office/drawing/2014/main" id="{90EE054D-C5E9-45B5-BB25-B3647CEA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1848" y="2707196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17" name="017-flow">
            <a:extLst xmlns:a="http://schemas.openxmlformats.org/drawingml/2006/main">
              <a:ext uri="{FF2B5EF4-FFF2-40B4-BE49-F238E27FC236}">
                <a16:creationId xmlns:a16="http://schemas.microsoft.com/office/drawing/2014/main" id="{0BE4AD39-E4FA-4833-9102-D33C8422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743200"/>
            <a:ext cx="428625" cy="8573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18" name="018-arrowhead">
            <a:extLst xmlns:a="http://schemas.openxmlformats.org/drawingml/2006/main">
              <a:ext uri="{FF2B5EF4-FFF2-40B4-BE49-F238E27FC236}">
                <a16:creationId xmlns:a16="http://schemas.microsoft.com/office/drawing/2014/main" id="{6D1E96A5-D862-4EF4-B870-C01B966E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7723" y="2707196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19" name="019-flow">
            <a:extLst xmlns:a="http://schemas.openxmlformats.org/drawingml/2006/main">
              <a:ext uri="{FF2B5EF4-FFF2-40B4-BE49-F238E27FC236}">
                <a16:creationId xmlns:a16="http://schemas.microsoft.com/office/drawing/2014/main" id="{4E5BFB35-D80F-490B-8183-1FC0A489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3575" y="2743200"/>
            <a:ext cx="377190" cy="8573"/>
          </a:xfrm>
          <a:custGeom xmlns:a="http://schemas.openxmlformats.org/drawingml/2006/main">
            <a:pathLst>
              <a:path w="419100" h="9525">
                <a:moveTo>
                  <a:pt x="0" y="0"/>
                </a:moveTo>
                <a:lnTo>
                  <a:pt x="419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20" name="020-arrowhead">
            <a:extLst xmlns:a="http://schemas.openxmlformats.org/drawingml/2006/main">
              <a:ext uri="{FF2B5EF4-FFF2-40B4-BE49-F238E27FC236}">
                <a16:creationId xmlns:a16="http://schemas.microsoft.com/office/drawing/2014/main" id="{1CE25D24-2304-444B-87B7-9C633E0D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3613" y="2707196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21" name="021-flow">
            <a:extLst xmlns:a="http://schemas.openxmlformats.org/drawingml/2006/main">
              <a:ext uri="{FF2B5EF4-FFF2-40B4-BE49-F238E27FC236}">
                <a16:creationId xmlns:a16="http://schemas.microsoft.com/office/drawing/2014/main" id="{BC952239-DB6B-4CE5-9A0C-98E0823EC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714500"/>
            <a:ext cx="7115175" cy="728663"/>
          </a:xfrm>
          <a:custGeom xmlns:a="http://schemas.openxmlformats.org/drawingml/2006/main">
            <a:pathLst>
              <a:path w="7905750" h="809625">
                <a:moveTo>
                  <a:pt x="0" y="809625"/>
                </a:moveTo>
                <a:lnTo>
                  <a:pt x="0" y="0"/>
                </a:lnTo>
                <a:lnTo>
                  <a:pt x="790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22" name="022-arrowhead">
            <a:extLst xmlns:a="http://schemas.openxmlformats.org/drawingml/2006/main">
              <a:ext uri="{FF2B5EF4-FFF2-40B4-BE49-F238E27FC236}">
                <a16:creationId xmlns:a16="http://schemas.microsoft.com/office/drawing/2014/main" id="{EA9198B4-8CEE-4D0C-9B88-06126BF6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1848" y="1678496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23" name="023-flow">
            <a:extLst xmlns:a="http://schemas.openxmlformats.org/drawingml/2006/main">
              <a:ext uri="{FF2B5EF4-FFF2-40B4-BE49-F238E27FC236}">
                <a16:creationId xmlns:a16="http://schemas.microsoft.com/office/drawing/2014/main" id="{5D7D31BA-47DD-4BBC-8C9E-72DB04DD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057400"/>
            <a:ext cx="6343650" cy="685800"/>
          </a:xfrm>
          <a:custGeom xmlns:a="http://schemas.openxmlformats.org/drawingml/2006/main">
            <a:pathLst>
              <a:path w="7048500" h="762000">
                <a:moveTo>
                  <a:pt x="0" y="762000"/>
                </a:moveTo>
                <a:lnTo>
                  <a:pt x="0" y="0"/>
                </a:lnTo>
                <a:lnTo>
                  <a:pt x="7048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24" name="024-arrowhead">
            <a:extLst xmlns:a="http://schemas.openxmlformats.org/drawingml/2006/main">
              <a:ext uri="{FF2B5EF4-FFF2-40B4-BE49-F238E27FC236}">
                <a16:creationId xmlns:a16="http://schemas.microsoft.com/office/drawing/2014/main" id="{A44C6E9C-30DE-43F5-BAA6-CA0CE4A4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1848" y="2021396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25" name="025-flow">
            <a:extLst xmlns:a="http://schemas.openxmlformats.org/drawingml/2006/main">
              <a:ext uri="{FF2B5EF4-FFF2-40B4-BE49-F238E27FC236}">
                <a16:creationId xmlns:a16="http://schemas.microsoft.com/office/drawing/2014/main" id="{EC3CAD56-EE64-46BF-8A4B-5FFAF25D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5613" y="2400300"/>
            <a:ext cx="4243388" cy="342900"/>
          </a:xfrm>
          <a:custGeom xmlns:a="http://schemas.openxmlformats.org/drawingml/2006/main">
            <a:pathLst>
              <a:path w="4714875" h="381000">
                <a:moveTo>
                  <a:pt x="0" y="381000"/>
                </a:moveTo>
                <a:lnTo>
                  <a:pt x="0" y="0"/>
                </a:lnTo>
                <a:lnTo>
                  <a:pt x="4714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26" name="026-arrowhead">
            <a:extLst xmlns:a="http://schemas.openxmlformats.org/drawingml/2006/main">
              <a:ext uri="{FF2B5EF4-FFF2-40B4-BE49-F238E27FC236}">
                <a16:creationId xmlns:a16="http://schemas.microsoft.com/office/drawing/2014/main" id="{187C7CFE-FA1D-45B3-B4E7-D05D1F63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1848" y="2364296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27" name="027-junction">
            <a:extLst xmlns:a="http://schemas.openxmlformats.org/drawingml/2006/main">
              <a:ext uri="{FF2B5EF4-FFF2-40B4-BE49-F238E27FC236}">
                <a16:creationId xmlns:a16="http://schemas.microsoft.com/office/drawing/2014/main" id="{41A6BB1E-2ECB-4130-9DAD-BB45B58E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5346" y="2713196"/>
            <a:ext cx="60008" cy="60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28" name="028-junction">
            <a:extLst xmlns:a="http://schemas.openxmlformats.org/drawingml/2006/main">
              <a:ext uri="{FF2B5EF4-FFF2-40B4-BE49-F238E27FC236}">
                <a16:creationId xmlns:a16="http://schemas.microsoft.com/office/drawing/2014/main" id="{F13153D3-D0C9-4DE3-9489-CED36E5C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5609" y="2713196"/>
            <a:ext cx="60008" cy="60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29" name="029-X">
            <a:extLst xmlns:a="http://schemas.openxmlformats.org/drawingml/2006/main">
              <a:ext uri="{FF2B5EF4-FFF2-40B4-BE49-F238E27FC236}">
                <a16:creationId xmlns:a16="http://schemas.microsoft.com/office/drawing/2014/main" id="{A5752330-4569-4321-9AFC-119677A7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" y="2554605"/>
            <a:ext cx="30861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93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093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pPr>
            <a:r>
              <a:rPr sz="2093" b="0">
                <a:solidFill>
                  <a:srgbClr val="243445"/>
                </a:solidFill>
                <a:latin typeface="Cambria Math"/>
                <a:ea typeface="Cambria Math"/>
                <a:cs typeface="Cambria Math"/>
              </a:rPr>
              <a:t>X</a:t>
            </a:r>
          </a:p>
        </p:txBody>
      </p:sp>
      <p:sp>
        <p:nvSpPr>
          <p:cNvPr id="30" name="030-1 × 1 Conv">
            <a:extLst xmlns:a="http://schemas.openxmlformats.org/drawingml/2006/main">
              <a:ext uri="{FF2B5EF4-FFF2-40B4-BE49-F238E27FC236}">
                <a16:creationId xmlns:a16="http://schemas.microsoft.com/office/drawing/2014/main" id="{71FAD803-929A-4F65-8566-21050C55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443163"/>
            <a:ext cx="1028700" cy="6000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EFFA"/>
          </a:solidFill>
          <a:ln xmlns:a="http://schemas.openxmlformats.org/drawingml/2006/main" w="16193">
            <a:solidFill>
              <a:srgbClr val="6186B5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485">
                <a:solidFill>
                  <a:srgbClr val="2434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85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1485">
                <a:solidFill>
                  <a:srgbClr val="243445"/>
                </a:solidFill>
                <a:latin typeface="Arial"/>
                <a:ea typeface="Arial"/>
                <a:cs typeface="Arial"/>
              </a:rPr>
              <a:t>1 × 1 Conv</a:t>
            </a:r>
          </a:p>
        </p:txBody>
      </p:sp>
      <p:sp>
        <p:nvSpPr>
          <p:cNvPr id="31" name="031-Split">
            <a:extLst xmlns:a="http://schemas.openxmlformats.org/drawingml/2006/main">
              <a:ext uri="{FF2B5EF4-FFF2-40B4-BE49-F238E27FC236}">
                <a16:creationId xmlns:a16="http://schemas.microsoft.com/office/drawing/2014/main" id="{527C10DF-0FCD-42EC-A855-8B6627A8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43163"/>
            <a:ext cx="857250" cy="6000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6193">
            <a:solidFill>
              <a:srgbClr val="CBD3DC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688">
                <a:solidFill>
                  <a:srgbClr val="2434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88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1688">
                <a:solidFill>
                  <a:srgbClr val="243445"/>
                </a:solidFill>
                <a:latin typeface="Arial"/>
                <a:ea typeface="Arial"/>
                <a:cs typeface="Arial"/>
              </a:rPr>
              <a:t>Split</a:t>
            </a:r>
          </a:p>
        </p:txBody>
      </p:sp>
      <p:sp>
        <p:nvSpPr>
          <p:cNvPr id="32" name="032-Bottleneck 1">
            <a:extLst xmlns:a="http://schemas.openxmlformats.org/drawingml/2006/main">
              <a:ext uri="{FF2B5EF4-FFF2-40B4-BE49-F238E27FC236}">
                <a16:creationId xmlns:a16="http://schemas.microsoft.com/office/drawing/2014/main" id="{71E22C84-685F-4EB3-BD95-B2AAE4A0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43163"/>
            <a:ext cx="1371600" cy="6000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EFFA"/>
          </a:solidFill>
          <a:ln xmlns:a="http://schemas.openxmlformats.org/drawingml/2006/main" w="16193">
            <a:solidFill>
              <a:srgbClr val="6186B5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552">
                <a:solidFill>
                  <a:srgbClr val="2434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52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1552">
                <a:solidFill>
                  <a:srgbClr val="243445"/>
                </a:solidFill>
                <a:latin typeface="Arial"/>
                <a:ea typeface="Arial"/>
                <a:cs typeface="Arial"/>
              </a:rPr>
              <a:t>Bottleneck 1</a:t>
            </a:r>
          </a:p>
        </p:txBody>
      </p:sp>
      <p:sp>
        <p:nvSpPr>
          <p:cNvPr id="33" name="033-Bottleneck 2">
            <a:extLst xmlns:a="http://schemas.openxmlformats.org/drawingml/2006/main">
              <a:ext uri="{FF2B5EF4-FFF2-40B4-BE49-F238E27FC236}">
                <a16:creationId xmlns:a16="http://schemas.microsoft.com/office/drawing/2014/main" id="{1EDAE1C1-85D3-416C-8CD2-8A549EA3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443163"/>
            <a:ext cx="1371600" cy="6000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EFFA"/>
          </a:solidFill>
          <a:ln xmlns:a="http://schemas.openxmlformats.org/drawingml/2006/main" w="16193">
            <a:solidFill>
              <a:srgbClr val="6186B5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552">
                <a:solidFill>
                  <a:srgbClr val="2434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52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1552">
                <a:solidFill>
                  <a:srgbClr val="243445"/>
                </a:solidFill>
                <a:latin typeface="Arial"/>
                <a:ea typeface="Arial"/>
                <a:cs typeface="Arial"/>
              </a:rPr>
              <a:t>Bottleneck 2</a:t>
            </a:r>
          </a:p>
        </p:txBody>
      </p:sp>
      <p:sp>
        <p:nvSpPr>
          <p:cNvPr id="34" name="034-MCE">
            <a:extLst xmlns:a="http://schemas.openxmlformats.org/drawingml/2006/main">
              <a:ext uri="{FF2B5EF4-FFF2-40B4-BE49-F238E27FC236}">
                <a16:creationId xmlns:a16="http://schemas.microsoft.com/office/drawing/2014/main" id="{8CFD8886-2D11-4831-B1D3-5636AB6F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43163"/>
            <a:ext cx="1028700" cy="6000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2F2EC"/>
          </a:solidFill>
          <a:ln xmlns:a="http://schemas.openxmlformats.org/drawingml/2006/main" w="16193">
            <a:solidFill>
              <a:srgbClr val="4C907C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823">
                <a:solidFill>
                  <a:srgbClr val="2434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23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1823">
                <a:solidFill>
                  <a:srgbClr val="243445"/>
                </a:solidFill>
                <a:latin typeface="Arial"/>
                <a:ea typeface="Arial"/>
                <a:cs typeface="Arial"/>
              </a:rPr>
              <a:t>MCE</a:t>
            </a:r>
          </a:p>
        </p:txBody>
      </p:sp>
      <p:sp>
        <p:nvSpPr>
          <p:cNvPr id="35" name="035-Concat">
            <a:extLst xmlns:a="http://schemas.openxmlformats.org/drawingml/2006/main">
              <a:ext uri="{FF2B5EF4-FFF2-40B4-BE49-F238E27FC236}">
                <a16:creationId xmlns:a16="http://schemas.microsoft.com/office/drawing/2014/main" id="{36B66179-32E2-41EB-AC36-80A1B6B2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534478"/>
            <a:ext cx="857250" cy="150876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EEE9F7"/>
          </a:solidFill>
          <a:ln xmlns:a="http://schemas.openxmlformats.org/drawingml/2006/main" w="16193">
            <a:solidFill>
              <a:srgbClr val="8B78AE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552">
                <a:solidFill>
                  <a:srgbClr val="2434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52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1552">
                <a:solidFill>
                  <a:srgbClr val="243445"/>
                </a:solidFill>
                <a:latin typeface="Arial"/>
                <a:ea typeface="Arial"/>
                <a:cs typeface="Arial"/>
              </a:rPr>
              <a:t>Concat</a:t>
            </a:r>
          </a:p>
        </p:txBody>
      </p:sp>
      <p:sp>
        <p:nvSpPr>
          <p:cNvPr id="36" name="036-1 × 1 Conv">
            <a:extLst xmlns:a="http://schemas.openxmlformats.org/drawingml/2006/main">
              <a:ext uri="{FF2B5EF4-FFF2-40B4-BE49-F238E27FC236}">
                <a16:creationId xmlns:a16="http://schemas.microsoft.com/office/drawing/2014/main" id="{C3AF69ED-90A5-4A11-BDEA-50827D92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2443163"/>
            <a:ext cx="1028700" cy="6000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EFFA"/>
          </a:solidFill>
          <a:ln xmlns:a="http://schemas.openxmlformats.org/drawingml/2006/main" w="16193">
            <a:solidFill>
              <a:srgbClr val="6186B5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485">
                <a:solidFill>
                  <a:srgbClr val="2434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85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1485">
                <a:solidFill>
                  <a:srgbClr val="243445"/>
                </a:solidFill>
                <a:latin typeface="Arial"/>
                <a:ea typeface="Arial"/>
                <a:cs typeface="Arial"/>
              </a:rPr>
              <a:t>1 × 1 Conv</a:t>
            </a:r>
          </a:p>
        </p:txBody>
      </p:sp>
      <p:sp>
        <p:nvSpPr>
          <p:cNvPr id="37" name="037-Y">
            <a:extLst xmlns:a="http://schemas.openxmlformats.org/drawingml/2006/main">
              <a:ext uri="{FF2B5EF4-FFF2-40B4-BE49-F238E27FC236}">
                <a16:creationId xmlns:a16="http://schemas.microsoft.com/office/drawing/2014/main" id="{C8933667-E9E5-4751-83A2-8E4248DD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5055" y="2554605"/>
            <a:ext cx="24003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93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093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pPr>
            <a:r>
              <a:rPr sz="2093" b="0">
                <a:solidFill>
                  <a:srgbClr val="243445"/>
                </a:solidFill>
                <a:latin typeface="Cambria Math"/>
                <a:ea typeface="Cambria Math"/>
                <a:cs typeface="Cambria Math"/>
              </a:rPr>
              <a:t>Y</a:t>
            </a:r>
          </a:p>
        </p:txBody>
      </p:sp>
      <p:sp>
        <p:nvSpPr>
          <p:cNvPr id="38" name="038-Z₀">
            <a:extLst xmlns:a="http://schemas.openxmlformats.org/drawingml/2006/main">
              <a:ext uri="{FF2B5EF4-FFF2-40B4-BE49-F238E27FC236}">
                <a16:creationId xmlns:a16="http://schemas.microsoft.com/office/drawing/2014/main" id="{5DC22341-0703-4F84-A70E-97CA3B05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48753"/>
            <a:ext cx="514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20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620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pPr>
            <a:r>
              <a:rPr sz="1620" b="0">
                <a:solidFill>
                  <a:srgbClr val="243445"/>
                </a:solidFill>
                <a:latin typeface="Cambria Math"/>
                <a:ea typeface="Cambria Math"/>
                <a:cs typeface="Cambria Math"/>
              </a:rPr>
              <a:t>Z₀</a:t>
            </a:r>
          </a:p>
        </p:txBody>
      </p:sp>
      <p:sp>
        <p:nvSpPr>
          <p:cNvPr id="39" name="039-Z₁">
            <a:extLst xmlns:a="http://schemas.openxmlformats.org/drawingml/2006/main">
              <a:ext uri="{FF2B5EF4-FFF2-40B4-BE49-F238E27FC236}">
                <a16:creationId xmlns:a16="http://schemas.microsoft.com/office/drawing/2014/main" id="{96E51AEB-3130-41A2-8B90-28344694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91653"/>
            <a:ext cx="514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20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620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pPr>
            <a:r>
              <a:rPr sz="1620" b="0">
                <a:solidFill>
                  <a:srgbClr val="243445"/>
                </a:solidFill>
                <a:latin typeface="Cambria Math"/>
                <a:ea typeface="Cambria Math"/>
                <a:cs typeface="Cambria Math"/>
              </a:rPr>
              <a:t>Z₁</a:t>
            </a:r>
          </a:p>
        </p:txBody>
      </p:sp>
      <p:sp>
        <p:nvSpPr>
          <p:cNvPr id="40" name="040-Z₂">
            <a:extLst xmlns:a="http://schemas.openxmlformats.org/drawingml/2006/main">
              <a:ext uri="{FF2B5EF4-FFF2-40B4-BE49-F238E27FC236}">
                <a16:creationId xmlns:a16="http://schemas.microsoft.com/office/drawing/2014/main" id="{EDE9B9BD-719F-40BB-9B1F-AF7E3D5D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25980"/>
            <a:ext cx="514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20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620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pPr>
            <a:r>
              <a:rPr sz="1620" b="0">
                <a:solidFill>
                  <a:srgbClr val="243445"/>
                </a:solidFill>
                <a:latin typeface="Cambria Math"/>
                <a:ea typeface="Cambria Math"/>
                <a:cs typeface="Cambria Math"/>
              </a:rPr>
              <a:t>Z₂</a:t>
            </a:r>
          </a:p>
        </p:txBody>
      </p:sp>
      <p:sp>
        <p:nvSpPr>
          <p:cNvPr id="41" name="041-F">
            <a:extLst xmlns:a="http://schemas.openxmlformats.org/drawingml/2006/main">
              <a:ext uri="{FF2B5EF4-FFF2-40B4-BE49-F238E27FC236}">
                <a16:creationId xmlns:a16="http://schemas.microsoft.com/office/drawing/2014/main" id="{972517D5-D67F-42BA-85CB-2FAD1A8D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34590"/>
            <a:ext cx="428625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20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620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pPr>
            <a:r>
              <a:rPr sz="1620" b="0">
                <a:solidFill>
                  <a:srgbClr val="243445"/>
                </a:solidFill>
                <a:latin typeface="Cambria Math"/>
                <a:ea typeface="Cambria Math"/>
                <a:cs typeface="Cambria Math"/>
              </a:rPr>
              <a:t>F</a:t>
            </a:r>
          </a:p>
        </p:txBody>
      </p:sp>
      <p:sp>
        <p:nvSpPr>
          <p:cNvPr id="42" name="042-F′">
            <a:extLst xmlns:a="http://schemas.openxmlformats.org/drawingml/2006/main">
              <a:ext uri="{FF2B5EF4-FFF2-40B4-BE49-F238E27FC236}">
                <a16:creationId xmlns:a16="http://schemas.microsoft.com/office/drawing/2014/main" id="{BD164866-32FC-432F-A00E-E4536303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070" y="2434590"/>
            <a:ext cx="471488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20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620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pPr>
            <a:r>
              <a:rPr sz="1620" b="0">
                <a:solidFill>
                  <a:srgbClr val="243445"/>
                </a:solidFill>
                <a:latin typeface="Cambria Math"/>
                <a:ea typeface="Cambria Math"/>
                <a:cs typeface="Cambria Math"/>
              </a:rPr>
              <a:t>F′</a:t>
            </a:r>
          </a:p>
        </p:txBody>
      </p:sp>
      <p:sp>
        <p:nvSpPr>
          <p:cNvPr id="43" name="043-Backbone P3/8 and P4/16 stages">
            <a:extLst xmlns:a="http://schemas.openxmlformats.org/drawingml/2006/main">
              <a:ext uri="{FF2B5EF4-FFF2-40B4-BE49-F238E27FC236}">
                <a16:creationId xmlns:a16="http://schemas.microsoft.com/office/drawing/2014/main" id="{23517031-E508-4185-90D7-F9D3371E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74695"/>
            <a:ext cx="625792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52" b="0">
                <a:solidFill>
                  <a:srgbClr val="6373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52" b="0">
                <a:solidFill>
                  <a:srgbClr val="637386"/>
                </a:solidFill>
                <a:latin typeface="Arial"/>
                <a:ea typeface="Arial"/>
                <a:cs typeface="Arial"/>
              </a:defRPr>
            </a:pPr>
            <a:r>
              <a:rPr sz="1552" b="0">
                <a:solidFill>
                  <a:srgbClr val="637386"/>
                </a:solidFill>
                <a:latin typeface="Arial"/>
                <a:ea typeface="Arial"/>
                <a:cs typeface="Arial"/>
              </a:rPr>
              <a:t>Backbone P3/8 and P4/16 stages</a:t>
            </a:r>
          </a:p>
        </p:txBody>
      </p:sp>
      <p:sp>
        <p:nvSpPr>
          <p:cNvPr id="44" name="044-Original local branches retained">
            <a:extLst xmlns:a="http://schemas.openxmlformats.org/drawingml/2006/main">
              <a:ext uri="{FF2B5EF4-FFF2-40B4-BE49-F238E27FC236}">
                <a16:creationId xmlns:a16="http://schemas.microsoft.com/office/drawing/2014/main" id="{B57F60AA-D057-4179-8BAA-4067E1F6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274695"/>
            <a:ext cx="591502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52" b="0">
                <a:solidFill>
                  <a:srgbClr val="6373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52" b="0">
                <a:solidFill>
                  <a:srgbClr val="637386"/>
                </a:solidFill>
                <a:latin typeface="Arial"/>
                <a:ea typeface="Arial"/>
                <a:cs typeface="Arial"/>
              </a:defRPr>
            </a:pPr>
            <a:r>
              <a:rPr sz="1552" b="0">
                <a:solidFill>
                  <a:srgbClr val="637386"/>
                </a:solidFill>
                <a:latin typeface="Arial"/>
                <a:ea typeface="Arial"/>
                <a:cs typeface="Arial"/>
              </a:rPr>
              <a:t>Original local branches retained</a:t>
            </a:r>
          </a:p>
        </p:txBody>
      </p:sp>
      <p:sp>
        <p:nvSpPr>
          <p:cNvPr id="45" name="045-flow">
            <a:extLst xmlns:a="http://schemas.openxmlformats.org/drawingml/2006/main">
              <a:ext uri="{FF2B5EF4-FFF2-40B4-BE49-F238E27FC236}">
                <a16:creationId xmlns:a16="http://schemas.microsoft.com/office/drawing/2014/main" id="{55EF9AC6-E210-4E3D-AC52-EA9317D4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46183"/>
            <a:ext cx="12687300" cy="8573"/>
          </a:xfrm>
          <a:custGeom xmlns:a="http://schemas.openxmlformats.org/drawingml/2006/main">
            <a:pathLst>
              <a:path w="14097000" h="9525">
                <a:moveTo>
                  <a:pt x="0" y="0"/>
                </a:moveTo>
                <a:lnTo>
                  <a:pt x="1409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46" name="046-(b) MCE on the final hidden branch">
            <a:extLst xmlns:a="http://schemas.openxmlformats.org/drawingml/2006/main">
              <a:ext uri="{FF2B5EF4-FFF2-40B4-BE49-F238E27FC236}">
                <a16:creationId xmlns:a16="http://schemas.microsoft.com/office/drawing/2014/main" id="{E96781E2-40BD-4A44-8F59-6699B275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83343"/>
            <a:ext cx="685800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55" b="1">
                <a:solidFill>
                  <a:srgbClr val="2434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55" b="1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1755" b="1">
                <a:solidFill>
                  <a:srgbClr val="243445"/>
                </a:solidFill>
                <a:latin typeface="Arial"/>
                <a:ea typeface="Arial"/>
                <a:cs typeface="Arial"/>
              </a:rPr>
              <a:t>(b) MCE on the final hidden branch</a:t>
            </a:r>
          </a:p>
        </p:txBody>
      </p:sp>
      <p:sp>
        <p:nvSpPr>
          <p:cNvPr id="47" name="047-flow">
            <a:extLst xmlns:a="http://schemas.openxmlformats.org/drawingml/2006/main">
              <a:ext uri="{FF2B5EF4-FFF2-40B4-BE49-F238E27FC236}">
                <a16:creationId xmlns:a16="http://schemas.microsoft.com/office/drawing/2014/main" id="{0982052D-237D-4284-9813-BD5DCB35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968" y="6086475"/>
            <a:ext cx="660083" cy="8573"/>
          </a:xfrm>
          <a:custGeom xmlns:a="http://schemas.openxmlformats.org/drawingml/2006/main">
            <a:pathLst>
              <a:path w="733425" h="9525">
                <a:moveTo>
                  <a:pt x="0" y="0"/>
                </a:moveTo>
                <a:lnTo>
                  <a:pt x="733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48" name="048-arrowhead">
            <a:extLst xmlns:a="http://schemas.openxmlformats.org/drawingml/2006/main">
              <a:ext uri="{FF2B5EF4-FFF2-40B4-BE49-F238E27FC236}">
                <a16:creationId xmlns:a16="http://schemas.microsoft.com/office/drawing/2014/main" id="{3DC48519-6415-4126-8C5C-18B1E938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7898" y="6050471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49" name="049-flow">
            <a:extLst xmlns:a="http://schemas.openxmlformats.org/drawingml/2006/main">
              <a:ext uri="{FF2B5EF4-FFF2-40B4-BE49-F238E27FC236}">
                <a16:creationId xmlns:a16="http://schemas.microsoft.com/office/drawing/2014/main" id="{05EFA16E-DF9D-4CEB-B698-09E8A1EF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6086475"/>
            <a:ext cx="428625" cy="8573"/>
          </a:xfrm>
          <a:custGeom xmlns:a="http://schemas.openxmlformats.org/drawingml/2006/main"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50" name="050-flow">
            <a:extLst xmlns:a="http://schemas.openxmlformats.org/drawingml/2006/main">
              <a:ext uri="{FF2B5EF4-FFF2-40B4-BE49-F238E27FC236}">
                <a16:creationId xmlns:a16="http://schemas.microsoft.com/office/drawing/2014/main" id="{F3536A6C-5FEB-41E9-A906-7A9A8B51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29188"/>
            <a:ext cx="514350" cy="1157288"/>
          </a:xfrm>
          <a:custGeom xmlns:a="http://schemas.openxmlformats.org/drawingml/2006/main">
            <a:pathLst>
              <a:path w="571500" h="1285875">
                <a:moveTo>
                  <a:pt x="0" y="1285875"/>
                </a:moveTo>
                <a:lnTo>
                  <a:pt x="0" y="0"/>
                </a:ln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51" name="051-arrowhead">
            <a:extLst xmlns:a="http://schemas.openxmlformats.org/drawingml/2006/main">
              <a:ext uri="{FF2B5EF4-FFF2-40B4-BE49-F238E27FC236}">
                <a16:creationId xmlns:a16="http://schemas.microsoft.com/office/drawing/2014/main" id="{5E26397A-018D-4E4A-9609-AB4D4104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3848" y="4893183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52" name="052-flow">
            <a:extLst xmlns:a="http://schemas.openxmlformats.org/drawingml/2006/main">
              <a:ext uri="{FF2B5EF4-FFF2-40B4-BE49-F238E27FC236}">
                <a16:creationId xmlns:a16="http://schemas.microsoft.com/office/drawing/2014/main" id="{48AD4813-77AA-4D97-8E45-B33C5CB1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957888"/>
            <a:ext cx="514350" cy="128588"/>
          </a:xfrm>
          <a:custGeom xmlns:a="http://schemas.openxmlformats.org/drawingml/2006/main">
            <a:pathLst>
              <a:path w="571500" h="142875">
                <a:moveTo>
                  <a:pt x="0" y="142875"/>
                </a:moveTo>
                <a:lnTo>
                  <a:pt x="0" y="0"/>
                </a:ln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53" name="053-arrowhead">
            <a:extLst xmlns:a="http://schemas.openxmlformats.org/drawingml/2006/main">
              <a:ext uri="{FF2B5EF4-FFF2-40B4-BE49-F238E27FC236}">
                <a16:creationId xmlns:a16="http://schemas.microsoft.com/office/drawing/2014/main" id="{7880174C-E056-4908-89A8-6DE5F880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3848" y="5921883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54" name="054-flow">
            <a:extLst xmlns:a="http://schemas.openxmlformats.org/drawingml/2006/main">
              <a:ext uri="{FF2B5EF4-FFF2-40B4-BE49-F238E27FC236}">
                <a16:creationId xmlns:a16="http://schemas.microsoft.com/office/drawing/2014/main" id="{EC6853D3-9C74-450B-A483-398DCA64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929188"/>
            <a:ext cx="557213" cy="8573"/>
          </a:xfrm>
          <a:custGeom xmlns:a="http://schemas.openxmlformats.org/drawingml/2006/main"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55" name="055-arrowhead">
            <a:extLst xmlns:a="http://schemas.openxmlformats.org/drawingml/2006/main">
              <a:ext uri="{FF2B5EF4-FFF2-40B4-BE49-F238E27FC236}">
                <a16:creationId xmlns:a16="http://schemas.microsoft.com/office/drawing/2014/main" id="{54B1DA7D-8F4D-431F-877B-94AF590A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1210" y="4893183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56" name="056-flow">
            <a:extLst xmlns:a="http://schemas.openxmlformats.org/drawingml/2006/main">
              <a:ext uri="{FF2B5EF4-FFF2-40B4-BE49-F238E27FC236}">
                <a16:creationId xmlns:a16="http://schemas.microsoft.com/office/drawing/2014/main" id="{5E25B03B-6B29-4968-A23E-AEA52185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957888"/>
            <a:ext cx="557213" cy="8573"/>
          </a:xfrm>
          <a:custGeom xmlns:a="http://schemas.openxmlformats.org/drawingml/2006/main">
            <a:pathLst>
              <a:path w="619125" h="9525">
                <a:moveTo>
                  <a:pt x="0" y="0"/>
                </a:moveTo>
                <a:lnTo>
                  <a:pt x="6191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57" name="057-arrowhead">
            <a:extLst xmlns:a="http://schemas.openxmlformats.org/drawingml/2006/main">
              <a:ext uri="{FF2B5EF4-FFF2-40B4-BE49-F238E27FC236}">
                <a16:creationId xmlns:a16="http://schemas.microsoft.com/office/drawing/2014/main" id="{E5448265-4045-4719-B038-0FAB02459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1210" y="5921883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58" name="058-flow">
            <a:extLst xmlns:a="http://schemas.openxmlformats.org/drawingml/2006/main">
              <a:ext uri="{FF2B5EF4-FFF2-40B4-BE49-F238E27FC236}">
                <a16:creationId xmlns:a16="http://schemas.microsoft.com/office/drawing/2014/main" id="{6720AD96-05C8-41E3-AE5D-8A86873B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4238" y="4929188"/>
            <a:ext cx="857250" cy="231458"/>
          </a:xfrm>
          <a:custGeom xmlns:a="http://schemas.openxmlformats.org/drawingml/2006/main">
            <a:pathLst>
              <a:path w="952500" h="257175">
                <a:moveTo>
                  <a:pt x="0" y="0"/>
                </a:moveTo>
                <a:lnTo>
                  <a:pt x="952500" y="0"/>
                </a:lnTo>
                <a:lnTo>
                  <a:pt x="952500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59" name="059-arrowhead">
            <a:extLst xmlns:a="http://schemas.openxmlformats.org/drawingml/2006/main">
              <a:ext uri="{FF2B5EF4-FFF2-40B4-BE49-F238E27FC236}">
                <a16:creationId xmlns:a16="http://schemas.microsoft.com/office/drawing/2014/main" id="{AD507C2E-237C-4FE7-AB60-B6F5416B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483" y="5083493"/>
            <a:ext cx="72009" cy="77153"/>
          </a:xfrm>
          <a:custGeom xmlns:a="http://schemas.openxmlformats.org/drawingml/2006/main">
            <a:pathLst>
              <a:path w="80010" h="85725">
                <a:moveTo>
                  <a:pt x="40005" y="85725"/>
                </a:moveTo>
                <a:lnTo>
                  <a:pt x="8001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60" name="060-flow">
            <a:extLst xmlns:a="http://schemas.openxmlformats.org/drawingml/2006/main">
              <a:ext uri="{FF2B5EF4-FFF2-40B4-BE49-F238E27FC236}">
                <a16:creationId xmlns:a16="http://schemas.microsoft.com/office/drawing/2014/main" id="{61E18AD7-DDB6-4C2B-A87F-C14A64B2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4238" y="5554980"/>
            <a:ext cx="857250" cy="402908"/>
          </a:xfrm>
          <a:custGeom xmlns:a="http://schemas.openxmlformats.org/drawingml/2006/main">
            <a:pathLst>
              <a:path w="952500" h="447675">
                <a:moveTo>
                  <a:pt x="0" y="447675"/>
                </a:moveTo>
                <a:lnTo>
                  <a:pt x="952500" y="447675"/>
                </a:ln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61" name="061-arrowhead">
            <a:extLst xmlns:a="http://schemas.openxmlformats.org/drawingml/2006/main">
              <a:ext uri="{FF2B5EF4-FFF2-40B4-BE49-F238E27FC236}">
                <a16:creationId xmlns:a16="http://schemas.microsoft.com/office/drawing/2014/main" id="{B35A4808-28DD-4D57-B0C6-A9709456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5483" y="5554980"/>
            <a:ext cx="72009" cy="77153"/>
          </a:xfrm>
          <a:custGeom xmlns:a="http://schemas.openxmlformats.org/drawingml/2006/main">
            <a:pathLst>
              <a:path w="80010" h="85725">
                <a:moveTo>
                  <a:pt x="40005" y="0"/>
                </a:moveTo>
                <a:lnTo>
                  <a:pt x="0" y="85725"/>
                </a:lnTo>
                <a:lnTo>
                  <a:pt x="80010" y="85725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62" name="062-flow">
            <a:extLst xmlns:a="http://schemas.openxmlformats.org/drawingml/2006/main">
              <a:ext uri="{FF2B5EF4-FFF2-40B4-BE49-F238E27FC236}">
                <a16:creationId xmlns:a16="http://schemas.microsoft.com/office/drawing/2014/main" id="{83D31870-D6DA-470B-8FEC-86D608B9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8655" y="5357813"/>
            <a:ext cx="274320" cy="8573"/>
          </a:xfrm>
          <a:custGeom xmlns:a="http://schemas.openxmlformats.org/drawingml/2006/main">
            <a:pathLst>
              <a:path w="304800" h="9525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63" name="063-arrowhead">
            <a:extLst xmlns:a="http://schemas.openxmlformats.org/drawingml/2006/main">
              <a:ext uri="{FF2B5EF4-FFF2-40B4-BE49-F238E27FC236}">
                <a16:creationId xmlns:a16="http://schemas.microsoft.com/office/drawing/2014/main" id="{4B51F673-1458-4BA4-873E-BBD2E2D6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5823" y="5321808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64" name="064-flow">
            <a:extLst xmlns:a="http://schemas.openxmlformats.org/drawingml/2006/main">
              <a:ext uri="{FF2B5EF4-FFF2-40B4-BE49-F238E27FC236}">
                <a16:creationId xmlns:a16="http://schemas.microsoft.com/office/drawing/2014/main" id="{9C9D7799-B325-4EB9-9190-667D1463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357813"/>
            <a:ext cx="342900" cy="8573"/>
          </a:xfrm>
          <a:custGeom xmlns:a="http://schemas.openxmlformats.org/drawingml/2006/main"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65" name="065-arrowhead">
            <a:extLst xmlns:a="http://schemas.openxmlformats.org/drawingml/2006/main">
              <a:ext uri="{FF2B5EF4-FFF2-40B4-BE49-F238E27FC236}">
                <a16:creationId xmlns:a16="http://schemas.microsoft.com/office/drawing/2014/main" id="{1E63F3D0-83D3-403D-8750-D64B7200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8873" y="5321808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66" name="066-flow">
            <a:extLst xmlns:a="http://schemas.openxmlformats.org/drawingml/2006/main">
              <a:ext uri="{FF2B5EF4-FFF2-40B4-BE49-F238E27FC236}">
                <a16:creationId xmlns:a16="http://schemas.microsoft.com/office/drawing/2014/main" id="{204F931A-BF01-412F-8171-422A95E1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57813"/>
            <a:ext cx="317183" cy="8573"/>
          </a:xfrm>
          <a:custGeom xmlns:a="http://schemas.openxmlformats.org/drawingml/2006/main">
            <a:pathLst>
              <a:path w="352425" h="9525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67" name="067-arrowhead">
            <a:extLst xmlns:a="http://schemas.openxmlformats.org/drawingml/2006/main">
              <a:ext uri="{FF2B5EF4-FFF2-40B4-BE49-F238E27FC236}">
                <a16:creationId xmlns:a16="http://schemas.microsoft.com/office/drawing/2014/main" id="{46A27C6E-9C41-471B-9F78-12B5D1C7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9030" y="5321808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68" name="068-flow">
            <a:extLst xmlns:a="http://schemas.openxmlformats.org/drawingml/2006/main">
              <a:ext uri="{FF2B5EF4-FFF2-40B4-BE49-F238E27FC236}">
                <a16:creationId xmlns:a16="http://schemas.microsoft.com/office/drawing/2014/main" id="{56C128D1-9D5C-46A5-AF8E-168D3B0B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71975"/>
            <a:ext cx="7886700" cy="788670"/>
          </a:xfrm>
          <a:custGeom xmlns:a="http://schemas.openxmlformats.org/drawingml/2006/main">
            <a:pathLst>
              <a:path w="8763000" h="876300">
                <a:moveTo>
                  <a:pt x="0" y="619125"/>
                </a:moveTo>
                <a:lnTo>
                  <a:pt x="0" y="0"/>
                </a:lnTo>
                <a:lnTo>
                  <a:pt x="8763000" y="0"/>
                </a:lnTo>
                <a:lnTo>
                  <a:pt x="8763000" y="87630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69" name="069-arrowhead">
            <a:extLst xmlns:a="http://schemas.openxmlformats.org/drawingml/2006/main">
              <a:ext uri="{FF2B5EF4-FFF2-40B4-BE49-F238E27FC236}">
                <a16:creationId xmlns:a16="http://schemas.microsoft.com/office/drawing/2014/main" id="{AD6FB59C-BC04-420A-925F-8DAC4F76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7346" y="5083493"/>
            <a:ext cx="72009" cy="77153"/>
          </a:xfrm>
          <a:custGeom xmlns:a="http://schemas.openxmlformats.org/drawingml/2006/main">
            <a:pathLst>
              <a:path w="80010" h="85725">
                <a:moveTo>
                  <a:pt x="40005" y="85725"/>
                </a:moveTo>
                <a:lnTo>
                  <a:pt x="8001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70" name="070-flow">
            <a:extLst xmlns:a="http://schemas.openxmlformats.org/drawingml/2006/main">
              <a:ext uri="{FF2B5EF4-FFF2-40B4-BE49-F238E27FC236}">
                <a16:creationId xmlns:a16="http://schemas.microsoft.com/office/drawing/2014/main" id="{2C374D6D-5F13-47F2-8C6A-D52B2F26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5554980"/>
            <a:ext cx="8573" cy="334328"/>
          </a:xfrm>
          <a:custGeom xmlns:a="http://schemas.openxmlformats.org/drawingml/2006/main">
            <a:pathLst>
              <a:path w="9525" h="371475">
                <a:moveTo>
                  <a:pt x="0" y="3714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B87C3D"/>
            </a:solidFill>
            <a:prstDash val="solid"/>
          </a:ln>
        </p:spPr>
      </p:sp>
      <p:sp>
        <p:nvSpPr>
          <p:cNvPr id="71" name="071-arrowhead">
            <a:extLst xmlns:a="http://schemas.openxmlformats.org/drawingml/2006/main">
              <a:ext uri="{FF2B5EF4-FFF2-40B4-BE49-F238E27FC236}">
                <a16:creationId xmlns:a16="http://schemas.microsoft.com/office/drawing/2014/main" id="{A072D468-7EB7-4C93-A1D4-3107DDC8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7346" y="5554980"/>
            <a:ext cx="72009" cy="77153"/>
          </a:xfrm>
          <a:custGeom xmlns:a="http://schemas.openxmlformats.org/drawingml/2006/main">
            <a:pathLst>
              <a:path w="80010" h="85725">
                <a:moveTo>
                  <a:pt x="40005" y="0"/>
                </a:moveTo>
                <a:lnTo>
                  <a:pt x="0" y="85725"/>
                </a:lnTo>
                <a:lnTo>
                  <a:pt x="80010" y="85725"/>
                </a:lnTo>
                <a:close/>
              </a:path>
            </a:pathLst>
          </a:custGeom>
          <a:solidFill xmlns:a="http://schemas.openxmlformats.org/drawingml/2006/main">
            <a:srgbClr val="B87C3D"/>
          </a:solidFill>
          <a:ln xmlns:a="http://schemas.openxmlformats.org/drawingml/2006/main" w="0">
            <a:noFill/>
          </a:ln>
        </p:spPr>
      </p:sp>
      <p:sp>
        <p:nvSpPr>
          <p:cNvPr id="72" name="072-flow">
            <a:extLst xmlns:a="http://schemas.openxmlformats.org/drawingml/2006/main">
              <a:ext uri="{FF2B5EF4-FFF2-40B4-BE49-F238E27FC236}">
                <a16:creationId xmlns:a16="http://schemas.microsoft.com/office/drawing/2014/main" id="{4E07ED9A-8178-4457-9F59-A009FA75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0518" y="5357813"/>
            <a:ext cx="488633" cy="1217295"/>
          </a:xfrm>
          <a:custGeom xmlns:a="http://schemas.openxmlformats.org/drawingml/2006/main">
            <a:pathLst>
              <a:path w="542925" h="1352550">
                <a:moveTo>
                  <a:pt x="0" y="0"/>
                </a:moveTo>
                <a:lnTo>
                  <a:pt x="542925" y="0"/>
                </a:lnTo>
                <a:lnTo>
                  <a:pt x="542925" y="13525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73" name="073-arrowhead">
            <a:extLst xmlns:a="http://schemas.openxmlformats.org/drawingml/2006/main">
              <a:ext uri="{FF2B5EF4-FFF2-40B4-BE49-F238E27FC236}">
                <a16:creationId xmlns:a16="http://schemas.microsoft.com/office/drawing/2014/main" id="{7BF830A6-F92E-4799-8571-8E5BB738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3146" y="6497955"/>
            <a:ext cx="72009" cy="77153"/>
          </a:xfrm>
          <a:custGeom xmlns:a="http://schemas.openxmlformats.org/drawingml/2006/main">
            <a:pathLst>
              <a:path w="80010" h="85725">
                <a:moveTo>
                  <a:pt x="40005" y="85725"/>
                </a:moveTo>
                <a:lnTo>
                  <a:pt x="8001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74" name="074-flow">
            <a:extLst xmlns:a="http://schemas.openxmlformats.org/drawingml/2006/main">
              <a:ext uri="{FF2B5EF4-FFF2-40B4-BE49-F238E27FC236}">
                <a16:creationId xmlns:a16="http://schemas.microsoft.com/office/drawing/2014/main" id="{E3B93508-5F4B-41BC-B63D-1AAA6DA6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086475"/>
            <a:ext cx="8375333" cy="685800"/>
          </a:xfrm>
          <a:custGeom xmlns:a="http://schemas.openxmlformats.org/drawingml/2006/main">
            <a:pathLst>
              <a:path w="9305925" h="762000">
                <a:moveTo>
                  <a:pt x="0" y="0"/>
                </a:moveTo>
                <a:lnTo>
                  <a:pt x="0" y="762000"/>
                </a:lnTo>
                <a:lnTo>
                  <a:pt x="9305925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75" name="075-arrowhead">
            <a:extLst xmlns:a="http://schemas.openxmlformats.org/drawingml/2006/main">
              <a:ext uri="{FF2B5EF4-FFF2-40B4-BE49-F238E27FC236}">
                <a16:creationId xmlns:a16="http://schemas.microsoft.com/office/drawing/2014/main" id="{517B9EC9-7BA6-4A30-9FB7-670AF5C5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4830" y="6736271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76" name="076-flow">
            <a:extLst xmlns:a="http://schemas.openxmlformats.org/drawingml/2006/main">
              <a:ext uri="{FF2B5EF4-FFF2-40B4-BE49-F238E27FC236}">
                <a16:creationId xmlns:a16="http://schemas.microsoft.com/office/drawing/2014/main" id="{FC92E196-1719-4D74-AFB9-84338641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6318" y="6772275"/>
            <a:ext cx="402908" cy="8573"/>
          </a:xfrm>
          <a:custGeom xmlns:a="http://schemas.openxmlformats.org/drawingml/2006/main">
            <a:pathLst>
              <a:path w="447675" h="9525">
                <a:moveTo>
                  <a:pt x="0" y="0"/>
                </a:moveTo>
                <a:lnTo>
                  <a:pt x="44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77" name="077-arrowhead">
            <a:extLst xmlns:a="http://schemas.openxmlformats.org/drawingml/2006/main">
              <a:ext uri="{FF2B5EF4-FFF2-40B4-BE49-F238E27FC236}">
                <a16:creationId xmlns:a16="http://schemas.microsoft.com/office/drawing/2014/main" id="{833A5248-0375-45AF-9F4F-E23E3EDA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2073" y="6736271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78" name="078-flow">
            <a:extLst xmlns:a="http://schemas.openxmlformats.org/drawingml/2006/main">
              <a:ext uri="{FF2B5EF4-FFF2-40B4-BE49-F238E27FC236}">
                <a16:creationId xmlns:a16="http://schemas.microsoft.com/office/drawing/2014/main" id="{DB04B297-021C-4492-8D08-170B57D1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8" y="6386513"/>
            <a:ext cx="10072688" cy="1071563"/>
          </a:xfrm>
          <a:custGeom xmlns:a="http://schemas.openxmlformats.org/drawingml/2006/main">
            <a:pathLst>
              <a:path w="11191875" h="1190625">
                <a:moveTo>
                  <a:pt x="0" y="0"/>
                </a:moveTo>
                <a:lnTo>
                  <a:pt x="0" y="1190625"/>
                </a:lnTo>
                <a:lnTo>
                  <a:pt x="11191875" y="1190625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79" name="079-arrowhead">
            <a:extLst xmlns:a="http://schemas.openxmlformats.org/drawingml/2006/main">
              <a:ext uri="{FF2B5EF4-FFF2-40B4-BE49-F238E27FC236}">
                <a16:creationId xmlns:a16="http://schemas.microsoft.com/office/drawing/2014/main" id="{122CB8CD-0B6E-4CB5-B168-AA236923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72073" y="7422071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80" name="080-flow">
            <a:extLst xmlns:a="http://schemas.openxmlformats.org/drawingml/2006/main">
              <a:ext uri="{FF2B5EF4-FFF2-40B4-BE49-F238E27FC236}">
                <a16:creationId xmlns:a16="http://schemas.microsoft.com/office/drawing/2014/main" id="{AC3E84E6-C33B-4FFE-8617-EB4EDFD6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6986588"/>
            <a:ext cx="342900" cy="8573"/>
          </a:xfrm>
          <a:custGeom xmlns:a="http://schemas.openxmlformats.org/drawingml/2006/main"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81" name="081-arrowhead">
            <a:extLst xmlns:a="http://schemas.openxmlformats.org/drawingml/2006/main">
              <a:ext uri="{FF2B5EF4-FFF2-40B4-BE49-F238E27FC236}">
                <a16:creationId xmlns:a16="http://schemas.microsoft.com/office/drawing/2014/main" id="{44037F45-6BE2-49DB-9CA6-74A61D1C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6498" y="6950583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82" name="082-junction">
            <a:extLst xmlns:a="http://schemas.openxmlformats.org/drawingml/2006/main">
              <a:ext uri="{FF2B5EF4-FFF2-40B4-BE49-F238E27FC236}">
                <a16:creationId xmlns:a16="http://schemas.microsoft.com/office/drawing/2014/main" id="{6EE79259-1581-405D-AA45-3212E4AB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646" y="4899184"/>
            <a:ext cx="60008" cy="60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83" name="083-junction">
            <a:extLst xmlns:a="http://schemas.openxmlformats.org/drawingml/2006/main">
              <a:ext uri="{FF2B5EF4-FFF2-40B4-BE49-F238E27FC236}">
                <a16:creationId xmlns:a16="http://schemas.microsoft.com/office/drawing/2014/main" id="{33039466-0ACE-49C2-A885-DD53F3A5C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646" y="5927884"/>
            <a:ext cx="60008" cy="60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84" name="084-junction">
            <a:extLst xmlns:a="http://schemas.openxmlformats.org/drawingml/2006/main">
              <a:ext uri="{FF2B5EF4-FFF2-40B4-BE49-F238E27FC236}">
                <a16:creationId xmlns:a16="http://schemas.microsoft.com/office/drawing/2014/main" id="{A4C67690-9368-48B2-BE93-539B41AE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646" y="6056471"/>
            <a:ext cx="60008" cy="60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85" name="085-F">
            <a:extLst xmlns:a="http://schemas.openxmlformats.org/drawingml/2006/main">
              <a:ext uri="{FF2B5EF4-FFF2-40B4-BE49-F238E27FC236}">
                <a16:creationId xmlns:a16="http://schemas.microsoft.com/office/drawing/2014/main" id="{680CAC9D-95FD-436D-AA00-6FAD84D0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" y="5863590"/>
            <a:ext cx="30861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93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093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pPr>
            <a:r>
              <a:rPr sz="2093" b="0">
                <a:solidFill>
                  <a:srgbClr val="243445"/>
                </a:solidFill>
                <a:latin typeface="Cambria Math"/>
                <a:ea typeface="Cambria Math"/>
                <a:cs typeface="Cambria Math"/>
              </a:rPr>
              <a:t>F</a:t>
            </a:r>
          </a:p>
        </p:txBody>
      </p:sp>
      <p:sp>
        <p:nvSpPr>
          <p:cNvPr id="86" name="086-c × H × W">
            <a:extLst xmlns:a="http://schemas.openxmlformats.org/drawingml/2006/main">
              <a:ext uri="{FF2B5EF4-FFF2-40B4-BE49-F238E27FC236}">
                <a16:creationId xmlns:a16="http://schemas.microsoft.com/office/drawing/2014/main" id="{CDBE0209-FC5C-4988-91E6-BDF532B1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326505"/>
            <a:ext cx="92583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18" b="0">
                <a:solidFill>
                  <a:srgbClr val="637386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418" b="0">
                <a:solidFill>
                  <a:srgbClr val="637386"/>
                </a:solidFill>
                <a:latin typeface="Cambria Math"/>
                <a:ea typeface="Cambria Math"/>
                <a:cs typeface="Cambria Math"/>
              </a:defRPr>
            </a:pPr>
            <a:r>
              <a:rPr sz="1418" b="0">
                <a:solidFill>
                  <a:srgbClr val="637386"/>
                </a:solidFill>
                <a:latin typeface="Cambria Math"/>
                <a:ea typeface="Cambria Math"/>
                <a:cs typeface="Cambria Math"/>
              </a:rPr>
              <a:t>c × H × W</a:t>
            </a:r>
          </a:p>
        </p:txBody>
      </p:sp>
      <p:sp>
        <p:nvSpPr>
          <p:cNvPr id="87" name="087-Channel split">
            <a:extLst xmlns:a="http://schemas.openxmlformats.org/drawingml/2006/main">
              <a:ext uri="{FF2B5EF4-FFF2-40B4-BE49-F238E27FC236}">
                <a16:creationId xmlns:a16="http://schemas.microsoft.com/office/drawing/2014/main" id="{5ABF8B7F-ED6E-42DA-BF2D-722B60BC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786438"/>
            <a:ext cx="942975" cy="6000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6193">
            <a:solidFill>
              <a:srgbClr val="CBD3DC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552">
                <a:solidFill>
                  <a:srgbClr val="2434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52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1552">
                <a:solidFill>
                  <a:srgbClr val="243445"/>
                </a:solidFill>
                <a:latin typeface="Arial"/>
                <a:ea typeface="Arial"/>
                <a:cs typeface="Arial"/>
              </a:rPr>
              <a:t>Channel</a:t>
            </a:r>
          </a:p>
          <a:p xmlns:a="http://schemas.openxmlformats.org/drawingml/2006/main">
            <a:pPr algn="ctr">
              <a:defRPr sz="1552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1552">
                <a:solidFill>
                  <a:srgbClr val="243445"/>
                </a:solidFill>
                <a:latin typeface="Arial"/>
                <a:ea typeface="Arial"/>
                <a:cs typeface="Arial"/>
              </a:rPr>
              <a:t>split</a:t>
            </a:r>
          </a:p>
        </p:txBody>
      </p:sp>
      <p:sp>
        <p:nvSpPr>
          <p:cNvPr id="88" name="088-Fₐ">
            <a:extLst xmlns:a="http://schemas.openxmlformats.org/drawingml/2006/main">
              <a:ext uri="{FF2B5EF4-FFF2-40B4-BE49-F238E27FC236}">
                <a16:creationId xmlns:a16="http://schemas.microsoft.com/office/drawing/2014/main" id="{7EA0566E-0F13-4835-B271-4551EC08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5170" y="5777865"/>
            <a:ext cx="385763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88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688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pPr>
            <a:r>
              <a:rPr sz="1688" b="0">
                <a:solidFill>
                  <a:srgbClr val="243445"/>
                </a:solidFill>
                <a:latin typeface="Cambria Math"/>
                <a:ea typeface="Cambria Math"/>
                <a:cs typeface="Cambria Math"/>
              </a:rPr>
              <a:t>Fₐ</a:t>
            </a:r>
          </a:p>
        </p:txBody>
      </p:sp>
      <p:sp>
        <p:nvSpPr>
          <p:cNvPr id="89" name="089-Mean over W">
            <a:extLst xmlns:a="http://schemas.openxmlformats.org/drawingml/2006/main">
              <a:ext uri="{FF2B5EF4-FFF2-40B4-BE49-F238E27FC236}">
                <a16:creationId xmlns:a16="http://schemas.microsoft.com/office/drawing/2014/main" id="{C54D8F00-2C92-4025-9C10-2E74EAE6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29150"/>
            <a:ext cx="1200150" cy="6000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EFFA"/>
          </a:solidFill>
          <a:ln xmlns:a="http://schemas.openxmlformats.org/drawingml/2006/main" w="16193">
            <a:solidFill>
              <a:srgbClr val="6186B5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485">
                <a:solidFill>
                  <a:srgbClr val="2434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85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1485">
                <a:solidFill>
                  <a:srgbClr val="243445"/>
                </a:solidFill>
                <a:latin typeface="Arial"/>
                <a:ea typeface="Arial"/>
                <a:cs typeface="Arial"/>
              </a:rPr>
              <a:t>Mean over W</a:t>
            </a:r>
          </a:p>
        </p:txBody>
      </p:sp>
      <p:sp>
        <p:nvSpPr>
          <p:cNvPr id="90" name="090-Mean over H">
            <a:extLst xmlns:a="http://schemas.openxmlformats.org/drawingml/2006/main">
              <a:ext uri="{FF2B5EF4-FFF2-40B4-BE49-F238E27FC236}">
                <a16:creationId xmlns:a16="http://schemas.microsoft.com/office/drawing/2014/main" id="{59150178-F0AA-451D-8CC8-8E119542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657850"/>
            <a:ext cx="1200150" cy="6000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7EFFA"/>
          </a:solidFill>
          <a:ln xmlns:a="http://schemas.openxmlformats.org/drawingml/2006/main" w="16193">
            <a:solidFill>
              <a:srgbClr val="6186B5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485">
                <a:solidFill>
                  <a:srgbClr val="2434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85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1485">
                <a:solidFill>
                  <a:srgbClr val="243445"/>
                </a:solidFill>
                <a:latin typeface="Arial"/>
                <a:ea typeface="Arial"/>
                <a:cs typeface="Arial"/>
              </a:rPr>
              <a:t>Mean over H</a:t>
            </a:r>
          </a:p>
        </p:txBody>
      </p:sp>
      <p:sp>
        <p:nvSpPr>
          <p:cNvPr id="91" name="091-DWConv 3 × 1">
            <a:extLst xmlns:a="http://schemas.openxmlformats.org/drawingml/2006/main">
              <a:ext uri="{FF2B5EF4-FFF2-40B4-BE49-F238E27FC236}">
                <a16:creationId xmlns:a16="http://schemas.microsoft.com/office/drawing/2014/main" id="{5E01EF31-FC76-4130-8EDE-92390753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363" y="4629150"/>
            <a:ext cx="1285875" cy="6000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2F2EC"/>
          </a:solidFill>
          <a:ln xmlns:a="http://schemas.openxmlformats.org/drawingml/2006/main" w="16193">
            <a:solidFill>
              <a:srgbClr val="4C907C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485">
                <a:solidFill>
                  <a:srgbClr val="2434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85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1485">
                <a:solidFill>
                  <a:srgbClr val="243445"/>
                </a:solidFill>
                <a:latin typeface="Arial"/>
                <a:ea typeface="Arial"/>
                <a:cs typeface="Arial"/>
              </a:rPr>
              <a:t>DWConv 3 × 1</a:t>
            </a:r>
          </a:p>
        </p:txBody>
      </p:sp>
      <p:sp>
        <p:nvSpPr>
          <p:cNvPr id="92" name="092-DWConv 1 × 3">
            <a:extLst xmlns:a="http://schemas.openxmlformats.org/drawingml/2006/main">
              <a:ext uri="{FF2B5EF4-FFF2-40B4-BE49-F238E27FC236}">
                <a16:creationId xmlns:a16="http://schemas.microsoft.com/office/drawing/2014/main" id="{123C0CA2-16D7-48DC-81CE-CCF951A1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363" y="5657850"/>
            <a:ext cx="1285875" cy="6000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2F2EC"/>
          </a:solidFill>
          <a:ln xmlns:a="http://schemas.openxmlformats.org/drawingml/2006/main" w="16193">
            <a:solidFill>
              <a:srgbClr val="4C907C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485">
                <a:solidFill>
                  <a:srgbClr val="2434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85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1485">
                <a:solidFill>
                  <a:srgbClr val="243445"/>
                </a:solidFill>
                <a:latin typeface="Arial"/>
                <a:ea typeface="Arial"/>
                <a:cs typeface="Arial"/>
              </a:rPr>
              <a:t>DWConv 1 × 3</a:t>
            </a:r>
          </a:p>
        </p:txBody>
      </p:sp>
      <p:sp>
        <p:nvSpPr>
          <p:cNvPr id="93" name="093-q × H × 1">
            <a:extLst xmlns:a="http://schemas.openxmlformats.org/drawingml/2006/main">
              <a:ext uri="{FF2B5EF4-FFF2-40B4-BE49-F238E27FC236}">
                <a16:creationId xmlns:a16="http://schemas.microsoft.com/office/drawing/2014/main" id="{C40DC239-0BBE-4EA4-88F3-18FF174F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246370"/>
            <a:ext cx="1714500" cy="248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18" b="0">
                <a:solidFill>
                  <a:srgbClr val="637386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418" b="0">
                <a:solidFill>
                  <a:srgbClr val="637386"/>
                </a:solidFill>
                <a:latin typeface="Cambria Math"/>
                <a:ea typeface="Cambria Math"/>
                <a:cs typeface="Cambria Math"/>
              </a:defRPr>
            </a:pPr>
            <a:r>
              <a:rPr sz="1418" b="0">
                <a:solidFill>
                  <a:srgbClr val="637386"/>
                </a:solidFill>
                <a:latin typeface="Cambria Math"/>
                <a:ea typeface="Cambria Math"/>
                <a:cs typeface="Cambria Math"/>
              </a:rPr>
              <a:t>q × H × 1</a:t>
            </a:r>
          </a:p>
        </p:txBody>
      </p:sp>
      <p:sp>
        <p:nvSpPr>
          <p:cNvPr id="94" name="094-q × 1 × W">
            <a:extLst xmlns:a="http://schemas.openxmlformats.org/drawingml/2006/main">
              <a:ext uri="{FF2B5EF4-FFF2-40B4-BE49-F238E27FC236}">
                <a16:creationId xmlns:a16="http://schemas.microsoft.com/office/drawing/2014/main" id="{E67E4E27-EE3E-4A22-AE54-28530C10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6283643"/>
            <a:ext cx="1714500" cy="2486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18" b="0">
                <a:solidFill>
                  <a:srgbClr val="637386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418" b="0">
                <a:solidFill>
                  <a:srgbClr val="637386"/>
                </a:solidFill>
                <a:latin typeface="Cambria Math"/>
                <a:ea typeface="Cambria Math"/>
                <a:cs typeface="Cambria Math"/>
              </a:defRPr>
            </a:pPr>
            <a:r>
              <a:rPr sz="1418" b="0">
                <a:solidFill>
                  <a:srgbClr val="637386"/>
                </a:solidFill>
                <a:latin typeface="Cambria Math"/>
                <a:ea typeface="Cambria Math"/>
                <a:cs typeface="Cambria Math"/>
              </a:rPr>
              <a:t>q × 1 × W</a:t>
            </a:r>
          </a:p>
        </p:txBody>
      </p:sp>
      <p:sp>
        <p:nvSpPr>
          <p:cNvPr id="95" name="095-operator +">
            <a:extLst xmlns:a="http://schemas.openxmlformats.org/drawingml/2006/main">
              <a:ext uri="{FF2B5EF4-FFF2-40B4-BE49-F238E27FC236}">
                <a16:creationId xmlns:a16="http://schemas.microsoft.com/office/drawing/2014/main" id="{2478A977-9CBB-43EB-A798-FEA1A2F8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4320" y="5160645"/>
            <a:ext cx="394335" cy="3943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3546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93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093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pPr>
            <a:r>
              <a:rPr sz="2093">
                <a:solidFill>
                  <a:srgbClr val="243445"/>
                </a:solidFill>
                <a:latin typeface="Cambria Math"/>
                <a:ea typeface="Cambria Math"/>
                <a:cs typeface="Cambria Math"/>
              </a:rPr>
              <a:t>+</a:t>
            </a:r>
          </a:p>
        </p:txBody>
      </p:sp>
      <p:sp>
        <p:nvSpPr>
          <p:cNvPr id="96" name="096-Broadcast add">
            <a:extLst xmlns:a="http://schemas.openxmlformats.org/drawingml/2006/main">
              <a:ext uri="{FF2B5EF4-FFF2-40B4-BE49-F238E27FC236}">
                <a16:creationId xmlns:a16="http://schemas.microsoft.com/office/drawing/2014/main" id="{8FD4F1F4-8075-4238-8555-48AE4080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517708"/>
            <a:ext cx="154305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6373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63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386"/>
                </a:solidFill>
                <a:latin typeface="Arial"/>
                <a:ea typeface="Arial"/>
                <a:cs typeface="Arial"/>
              </a:rPr>
              <a:t>Broadcast add</a:t>
            </a:r>
          </a:p>
        </p:txBody>
      </p:sp>
      <p:sp>
        <p:nvSpPr>
          <p:cNvPr id="97" name="097-Hardsigmoid">
            <a:extLst xmlns:a="http://schemas.openxmlformats.org/drawingml/2006/main">
              <a:ext uri="{FF2B5EF4-FFF2-40B4-BE49-F238E27FC236}">
                <a16:creationId xmlns:a16="http://schemas.microsoft.com/office/drawing/2014/main" id="{D81EBE0C-B246-4896-BE5A-7EBD7449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057775"/>
            <a:ext cx="1200150" cy="6000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E9D9"/>
          </a:solidFill>
          <a:ln xmlns:a="http://schemas.openxmlformats.org/drawingml/2006/main" w="16193">
            <a:solidFill>
              <a:srgbClr val="C28E57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485">
                <a:solidFill>
                  <a:srgbClr val="2434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85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1485">
                <a:solidFill>
                  <a:srgbClr val="243445"/>
                </a:solidFill>
                <a:latin typeface="Arial"/>
                <a:ea typeface="Arial"/>
                <a:cs typeface="Arial"/>
              </a:rPr>
              <a:t>Hardsigmoid</a:t>
            </a:r>
          </a:p>
        </p:txBody>
      </p:sp>
      <p:sp>
        <p:nvSpPr>
          <p:cNvPr id="98" name="098-2g − 1">
            <a:extLst xmlns:a="http://schemas.openxmlformats.org/drawingml/2006/main">
              <a:ext uri="{FF2B5EF4-FFF2-40B4-BE49-F238E27FC236}">
                <a16:creationId xmlns:a16="http://schemas.microsoft.com/office/drawing/2014/main" id="{A711F92C-AA6D-4685-9766-AF20EDC3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5057775"/>
            <a:ext cx="942975" cy="600075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E9D9"/>
          </a:solidFill>
          <a:ln xmlns:a="http://schemas.openxmlformats.org/drawingml/2006/main" w="16193">
            <a:solidFill>
              <a:srgbClr val="C28E57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755">
                <a:solidFill>
                  <a:srgbClr val="2434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55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1755">
                <a:solidFill>
                  <a:srgbClr val="243445"/>
                </a:solidFill>
                <a:latin typeface="Arial"/>
                <a:ea typeface="Arial"/>
                <a:cs typeface="Arial"/>
              </a:rPr>
              <a:t>2g − 1</a:t>
            </a:r>
          </a:p>
        </p:txBody>
      </p:sp>
      <p:sp>
        <p:nvSpPr>
          <p:cNvPr id="99" name="099-A">
            <a:extLst xmlns:a="http://schemas.openxmlformats.org/drawingml/2006/main">
              <a:ext uri="{FF2B5EF4-FFF2-40B4-BE49-F238E27FC236}">
                <a16:creationId xmlns:a16="http://schemas.microsoft.com/office/drawing/2014/main" id="{4F0AABA4-347B-4F55-A422-74467761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3290" y="5014913"/>
            <a:ext cx="342900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88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688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pPr>
            <a:r>
              <a:rPr sz="1688" b="0">
                <a:solidFill>
                  <a:srgbClr val="243445"/>
                </a:solidFill>
                <a:latin typeface="Cambria Math"/>
                <a:ea typeface="Cambria Math"/>
                <a:cs typeface="Cambria Math"/>
              </a:rPr>
              <a:t>A</a:t>
            </a:r>
          </a:p>
        </p:txBody>
      </p:sp>
      <p:sp>
        <p:nvSpPr>
          <p:cNvPr id="100" name="100-operator ⊙">
            <a:extLst xmlns:a="http://schemas.openxmlformats.org/drawingml/2006/main">
              <a:ext uri="{FF2B5EF4-FFF2-40B4-BE49-F238E27FC236}">
                <a16:creationId xmlns:a16="http://schemas.microsoft.com/office/drawing/2014/main" id="{06D91CFF-2428-4426-9194-9AED786A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6183" y="5160645"/>
            <a:ext cx="394335" cy="3943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9D9"/>
          </a:solidFill>
          <a:ln xmlns:a="http://schemas.openxmlformats.org/drawingml/2006/main" w="19050">
            <a:solidFill>
              <a:srgbClr val="C28E57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93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093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pPr>
            <a:r>
              <a:rPr sz="2093">
                <a:solidFill>
                  <a:srgbClr val="243445"/>
                </a:solidFill>
                <a:latin typeface="Cambria Math"/>
                <a:ea typeface="Cambria Math"/>
                <a:cs typeface="Cambria Math"/>
              </a:rPr>
              <a:t>⊙</a:t>
            </a:r>
          </a:p>
        </p:txBody>
      </p:sp>
      <p:sp>
        <p:nvSpPr>
          <p:cNvPr id="101" name="101-Fₐ">
            <a:extLst xmlns:a="http://schemas.openxmlformats.org/drawingml/2006/main">
              <a:ext uri="{FF2B5EF4-FFF2-40B4-BE49-F238E27FC236}">
                <a16:creationId xmlns:a16="http://schemas.microsoft.com/office/drawing/2014/main" id="{B2630D15-D893-4C7E-98DB-8E9388EE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6205" y="4560570"/>
            <a:ext cx="5143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88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688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pPr>
            <a:r>
              <a:rPr sz="1688" b="0">
                <a:solidFill>
                  <a:srgbClr val="243445"/>
                </a:solidFill>
                <a:latin typeface="Cambria Math"/>
                <a:ea typeface="Cambria Math"/>
                <a:cs typeface="Cambria Math"/>
              </a:rPr>
              <a:t>Fₐ</a:t>
            </a:r>
          </a:p>
        </p:txBody>
      </p:sp>
      <p:sp>
        <p:nvSpPr>
          <p:cNvPr id="102" name="102-γ">
            <a:extLst xmlns:a="http://schemas.openxmlformats.org/drawingml/2006/main">
              <a:ext uri="{FF2B5EF4-FFF2-40B4-BE49-F238E27FC236}">
                <a16:creationId xmlns:a16="http://schemas.microsoft.com/office/drawing/2014/main" id="{54121864-BB9F-4162-B31D-B603510C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9030" y="5897880"/>
            <a:ext cx="54864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93" b="0">
                <a:solidFill>
                  <a:srgbClr val="B87C3D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093" b="0">
                <a:solidFill>
                  <a:srgbClr val="B87C3D"/>
                </a:solidFill>
                <a:latin typeface="Cambria Math"/>
                <a:ea typeface="Cambria Math"/>
                <a:cs typeface="Cambria Math"/>
              </a:defRPr>
            </a:pPr>
            <a:r>
              <a:rPr sz="2093" b="0">
                <a:solidFill>
                  <a:srgbClr val="B87C3D"/>
                </a:solidFill>
                <a:latin typeface="Cambria Math"/>
                <a:ea typeface="Cambria Math"/>
                <a:cs typeface="Cambria Math"/>
              </a:rPr>
              <a:t>γ</a:t>
            </a:r>
          </a:p>
        </p:txBody>
      </p:sp>
      <p:sp>
        <p:nvSpPr>
          <p:cNvPr id="103" name="103-γ = 0 at initialization">
            <a:extLst xmlns:a="http://schemas.openxmlformats.org/drawingml/2006/main">
              <a:ext uri="{FF2B5EF4-FFF2-40B4-BE49-F238E27FC236}">
                <a16:creationId xmlns:a16="http://schemas.microsoft.com/office/drawing/2014/main" id="{D5FB9290-D933-43DB-A7FE-5F91C5F8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0338" y="6283643"/>
            <a:ext cx="2143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18" b="0">
                <a:solidFill>
                  <a:srgbClr val="6373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18" b="0">
                <a:solidFill>
                  <a:srgbClr val="637386"/>
                </a:solidFill>
                <a:latin typeface="Arial"/>
                <a:ea typeface="Arial"/>
                <a:cs typeface="Arial"/>
              </a:defRPr>
            </a:pPr>
            <a:r>
              <a:rPr sz="1418" b="0">
                <a:solidFill>
                  <a:srgbClr val="637386"/>
                </a:solidFill>
                <a:latin typeface="Arial"/>
                <a:ea typeface="Arial"/>
                <a:cs typeface="Arial"/>
              </a:rPr>
              <a:t>γ = 0 at initialization</a:t>
            </a:r>
          </a:p>
        </p:txBody>
      </p:sp>
      <p:sp>
        <p:nvSpPr>
          <p:cNvPr id="104" name="104-operator +">
            <a:extLst xmlns:a="http://schemas.openxmlformats.org/drawingml/2006/main">
              <a:ext uri="{FF2B5EF4-FFF2-40B4-BE49-F238E27FC236}">
                <a16:creationId xmlns:a16="http://schemas.microsoft.com/office/drawing/2014/main" id="{332C4330-826A-46E1-8468-115FCB6A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1983" y="6575108"/>
            <a:ext cx="394335" cy="3943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3546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93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093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pPr>
            <a:r>
              <a:rPr sz="2093">
                <a:solidFill>
                  <a:srgbClr val="243445"/>
                </a:solidFill>
                <a:latin typeface="Cambria Math"/>
                <a:ea typeface="Cambria Math"/>
                <a:cs typeface="Cambria Math"/>
              </a:rPr>
              <a:t>+</a:t>
            </a:r>
          </a:p>
        </p:txBody>
      </p:sp>
      <p:sp>
        <p:nvSpPr>
          <p:cNvPr id="105" name="105-Fₐ′">
            <a:extLst xmlns:a="http://schemas.openxmlformats.org/drawingml/2006/main">
              <a:ext uri="{FF2B5EF4-FFF2-40B4-BE49-F238E27FC236}">
                <a16:creationId xmlns:a16="http://schemas.microsoft.com/office/drawing/2014/main" id="{3DF0B7C5-B884-4427-905D-A2B6A057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6412230"/>
            <a:ext cx="5143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88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688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pPr>
            <a:r>
              <a:rPr sz="1688" b="0">
                <a:solidFill>
                  <a:srgbClr val="243445"/>
                </a:solidFill>
                <a:latin typeface="Cambria Math"/>
                <a:ea typeface="Cambria Math"/>
                <a:cs typeface="Cambria Math"/>
              </a:rPr>
              <a:t>Fₐ′</a:t>
            </a:r>
          </a:p>
        </p:txBody>
      </p:sp>
      <p:sp>
        <p:nvSpPr>
          <p:cNvPr id="106" name="106-F">
            <a:extLst xmlns:a="http://schemas.openxmlformats.org/drawingml/2006/main">
              <a:ext uri="{FF2B5EF4-FFF2-40B4-BE49-F238E27FC236}">
                <a16:creationId xmlns:a16="http://schemas.microsoft.com/office/drawing/2014/main" id="{92271C90-0C9A-497B-9A05-7495BE66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583" y="7132320"/>
            <a:ext cx="1714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20" b="0">
                <a:solidFill>
                  <a:srgbClr val="637386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620" b="0">
                <a:solidFill>
                  <a:srgbClr val="637386"/>
                </a:solidFill>
                <a:latin typeface="Cambria Math"/>
                <a:ea typeface="Cambria Math"/>
                <a:cs typeface="Cambria Math"/>
              </a:defRPr>
            </a:pPr>
            <a:r>
              <a:rPr sz="1620" b="0">
                <a:solidFill>
                  <a:srgbClr val="637386"/>
                </a:solidFill>
                <a:latin typeface="Cambria Math"/>
                <a:ea typeface="Cambria Math"/>
                <a:cs typeface="Cambria Math"/>
              </a:rPr>
              <a:t>F</a:t>
            </a:r>
          </a:p>
        </p:txBody>
      </p:sp>
      <p:sp>
        <p:nvSpPr>
          <p:cNvPr id="107" name="107-b">
            <a:extLst xmlns:a="http://schemas.openxmlformats.org/drawingml/2006/main">
              <a:ext uri="{FF2B5EF4-FFF2-40B4-BE49-F238E27FC236}">
                <a16:creationId xmlns:a16="http://schemas.microsoft.com/office/drawing/2014/main" id="{98988995-8935-4079-BD2E-5E289A5A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8460" y="7260908"/>
            <a:ext cx="120015" cy="1628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48" b="0">
                <a:solidFill>
                  <a:srgbClr val="637386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148" b="0">
                <a:solidFill>
                  <a:srgbClr val="637386"/>
                </a:solidFill>
                <a:latin typeface="Cambria Math"/>
                <a:ea typeface="Cambria Math"/>
                <a:cs typeface="Cambria Math"/>
              </a:defRPr>
            </a:pPr>
            <a:r>
              <a:rPr sz="1148" b="0">
                <a:solidFill>
                  <a:srgbClr val="637386"/>
                </a:solidFill>
                <a:latin typeface="Cambria Math"/>
                <a:ea typeface="Cambria Math"/>
                <a:cs typeface="Cambria Math"/>
              </a:rPr>
              <a:t>b</a:t>
            </a:r>
          </a:p>
        </p:txBody>
      </p:sp>
      <p:sp>
        <p:nvSpPr>
          <p:cNvPr id="108" name="108-(unchanged channels)">
            <a:extLst xmlns:a="http://schemas.openxmlformats.org/drawingml/2006/main">
              <a:ext uri="{FF2B5EF4-FFF2-40B4-BE49-F238E27FC236}">
                <a16:creationId xmlns:a16="http://schemas.microsoft.com/office/drawing/2014/main" id="{B9058DA2-EFBA-4711-96AD-89277569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3" y="7132320"/>
            <a:ext cx="265747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52" b="0">
                <a:solidFill>
                  <a:srgbClr val="6373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52" b="0">
                <a:solidFill>
                  <a:srgbClr val="637386"/>
                </a:solidFill>
                <a:latin typeface="Arial"/>
                <a:ea typeface="Arial"/>
                <a:cs typeface="Arial"/>
              </a:defRPr>
            </a:pPr>
            <a:r>
              <a:rPr sz="1552" b="0">
                <a:solidFill>
                  <a:srgbClr val="637386"/>
                </a:solidFill>
                <a:latin typeface="Arial"/>
                <a:ea typeface="Arial"/>
                <a:cs typeface="Arial"/>
              </a:rPr>
              <a:t>(unchanged channels)</a:t>
            </a:r>
          </a:p>
        </p:txBody>
      </p:sp>
      <p:sp>
        <p:nvSpPr>
          <p:cNvPr id="109" name="109-Concat">
            <a:extLst xmlns:a="http://schemas.openxmlformats.org/drawingml/2006/main">
              <a:ext uri="{FF2B5EF4-FFF2-40B4-BE49-F238E27FC236}">
                <a16:creationId xmlns:a16="http://schemas.microsoft.com/office/drawing/2014/main" id="{C3CA6492-CDB3-4D22-8E37-BF60EA92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6386513"/>
            <a:ext cx="771525" cy="1285875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EEE9F7"/>
          </a:solidFill>
          <a:ln xmlns:a="http://schemas.openxmlformats.org/drawingml/2006/main" w="16193">
            <a:solidFill>
              <a:srgbClr val="8B78AE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485">
                <a:solidFill>
                  <a:srgbClr val="2434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85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1485">
                <a:solidFill>
                  <a:srgbClr val="243445"/>
                </a:solidFill>
                <a:latin typeface="Arial"/>
                <a:ea typeface="Arial"/>
                <a:cs typeface="Arial"/>
              </a:rPr>
              <a:t>Concat</a:t>
            </a:r>
          </a:p>
        </p:txBody>
      </p:sp>
      <p:sp>
        <p:nvSpPr>
          <p:cNvPr id="110" name="110-F′">
            <a:extLst xmlns:a="http://schemas.openxmlformats.org/drawingml/2006/main">
              <a:ext uri="{FF2B5EF4-FFF2-40B4-BE49-F238E27FC236}">
                <a16:creationId xmlns:a16="http://schemas.microsoft.com/office/drawing/2014/main" id="{0962BAC3-589F-4422-94C0-DD127DB3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7895" y="6566535"/>
            <a:ext cx="385763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8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958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pPr>
            <a:r>
              <a:rPr sz="1958" b="0">
                <a:solidFill>
                  <a:srgbClr val="243445"/>
                </a:solidFill>
                <a:latin typeface="Cambria Math"/>
                <a:ea typeface="Cambria Math"/>
                <a:cs typeface="Cambria Math"/>
              </a:rPr>
              <a:t>F′</a:t>
            </a:r>
          </a:p>
        </p:txBody>
      </p:sp>
      <p:sp>
        <p:nvSpPr>
          <p:cNvPr id="111" name="111-Fₐ′ = Fₐ + γ ⊙ Fₐ ⊙ A">
            <a:extLst xmlns:a="http://schemas.openxmlformats.org/drawingml/2006/main">
              <a:ext uri="{FF2B5EF4-FFF2-40B4-BE49-F238E27FC236}">
                <a16:creationId xmlns:a16="http://schemas.microsoft.com/office/drawing/2014/main" id="{5832B6D4-8D9F-40F7-AFF0-E4CB829E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955280"/>
            <a:ext cx="72866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8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l">
              <a:defRPr sz="1958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pPr>
            <a:r>
              <a:rPr sz="1958" b="0">
                <a:solidFill>
                  <a:srgbClr val="243445"/>
                </a:solidFill>
                <a:latin typeface="Cambria Math"/>
                <a:ea typeface="Cambria Math"/>
                <a:cs typeface="Cambria Math"/>
              </a:rPr>
              <a:t>Fₐ′ = Fₐ + γ ⊙ Fₐ ⊙ A</a:t>
            </a:r>
          </a:p>
        </p:txBody>
      </p:sp>
      <p:sp>
        <p:nvSpPr>
          <p:cNvPr id="112" name="112-q = max(1, ⌊c / 4⌋)     ⊙  element-wise product">
            <a:extLst xmlns:a="http://schemas.openxmlformats.org/drawingml/2006/main">
              <a:ext uri="{FF2B5EF4-FFF2-40B4-BE49-F238E27FC236}">
                <a16:creationId xmlns:a16="http://schemas.microsoft.com/office/drawing/2014/main" id="{9252DB94-DE8C-4728-9327-B16C65E9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7955280"/>
            <a:ext cx="56578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52" b="0">
                <a:solidFill>
                  <a:srgbClr val="637386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r">
              <a:defRPr sz="1552" b="0">
                <a:solidFill>
                  <a:srgbClr val="637386"/>
                </a:solidFill>
                <a:latin typeface="Cambria Math"/>
                <a:ea typeface="Cambria Math"/>
                <a:cs typeface="Cambria Math"/>
              </a:defRPr>
            </a:pPr>
            <a:r>
              <a:rPr sz="1552" b="0">
                <a:solidFill>
                  <a:srgbClr val="637386"/>
                </a:solidFill>
                <a:latin typeface="Cambria Math"/>
                <a:ea typeface="Cambria Math"/>
                <a:cs typeface="Cambria Math"/>
              </a:rPr>
              <a:t>q = max(1, ⌊c / 4⌋)     ⊙  element-wise product</a:t>
            </a:r>
          </a:p>
        </p:txBody>
      </p:sp>
    </p:spTree>
    <p:extLst>
      <p:ext uri="{BB962C8B-B14F-4D97-AF65-F5344CB8AC3E}">
        <p14:creationId xmlns:p14="http://schemas.microsoft.com/office/powerpoint/2010/main" val="13223708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113-GIU">
            <a:extLst xmlns:a="http://schemas.openxmlformats.org/drawingml/2006/main">
              <a:ext uri="{FF2B5EF4-FFF2-40B4-BE49-F238E27FC236}">
                <a16:creationId xmlns:a16="http://schemas.microsoft.com/office/drawing/2014/main" id="{F2EA89A2-8471-42F8-AD58-B46F853A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1458"/>
            <a:ext cx="1714500" cy="471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903" b="1">
                <a:solidFill>
                  <a:srgbClr val="2434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03" b="1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2903" b="1">
                <a:solidFill>
                  <a:srgbClr val="243445"/>
                </a:solidFill>
                <a:latin typeface="Arial"/>
                <a:ea typeface="Arial"/>
                <a:cs typeface="Arial"/>
              </a:rPr>
              <a:t>GIU</a:t>
            </a:r>
          </a:p>
        </p:txBody>
      </p:sp>
      <p:sp>
        <p:nvSpPr>
          <p:cNvPr id="2" name="114-Gated interpolation upsampling">
            <a:extLst xmlns:a="http://schemas.openxmlformats.org/drawingml/2006/main">
              <a:ext uri="{FF2B5EF4-FFF2-40B4-BE49-F238E27FC236}">
                <a16:creationId xmlns:a16="http://schemas.microsoft.com/office/drawing/2014/main" id="{FB208F4B-4FE7-4A91-8BBA-FCAB9B554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0038"/>
            <a:ext cx="11058525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8" b="0">
                <a:solidFill>
                  <a:srgbClr val="2434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8" b="0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1958" b="0">
                <a:solidFill>
                  <a:srgbClr val="243445"/>
                </a:solidFill>
                <a:latin typeface="Arial"/>
                <a:ea typeface="Arial"/>
                <a:cs typeface="Arial"/>
              </a:rPr>
              <a:t>Gated interpolation upsampling</a:t>
            </a:r>
          </a:p>
        </p:txBody>
      </p:sp>
      <p:sp>
        <p:nvSpPr>
          <p:cNvPr id="3" name="115-flow">
            <a:extLst xmlns:a="http://schemas.openxmlformats.org/drawingml/2006/main">
              <a:ext uri="{FF2B5EF4-FFF2-40B4-BE49-F238E27FC236}">
                <a16:creationId xmlns:a16="http://schemas.microsoft.com/office/drawing/2014/main" id="{73BBDC47-9F86-4996-895E-18468347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925830"/>
            <a:ext cx="12687300" cy="8573"/>
          </a:xfrm>
          <a:custGeom xmlns:a="http://schemas.openxmlformats.org/drawingml/2006/main">
            <a:pathLst>
              <a:path w="14097000" h="9525">
                <a:moveTo>
                  <a:pt x="0" y="0"/>
                </a:moveTo>
                <a:lnTo>
                  <a:pt x="1409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4" name="116-Content-adaptive reconstruction of higher-level context">
            <a:extLst xmlns:a="http://schemas.openxmlformats.org/drawingml/2006/main">
              <a:ext uri="{FF2B5EF4-FFF2-40B4-BE49-F238E27FC236}">
                <a16:creationId xmlns:a16="http://schemas.microsoft.com/office/drawing/2014/main" id="{2B5A2931-9A2B-45A5-A9D6-FECC4124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097280"/>
            <a:ext cx="12687300" cy="3257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55" b="0">
                <a:solidFill>
                  <a:srgbClr val="2434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55" b="0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1755" b="0">
                <a:solidFill>
                  <a:srgbClr val="243445"/>
                </a:solidFill>
                <a:latin typeface="Arial"/>
                <a:ea typeface="Arial"/>
                <a:cs typeface="Arial"/>
              </a:rPr>
              <a:t>Content-adaptive reconstruction of higher-level context</a:t>
            </a:r>
          </a:p>
        </p:txBody>
      </p:sp>
      <p:sp>
        <p:nvSpPr>
          <p:cNvPr id="5" name="117-flow">
            <a:extLst xmlns:a="http://schemas.openxmlformats.org/drawingml/2006/main">
              <a:ext uri="{FF2B5EF4-FFF2-40B4-BE49-F238E27FC236}">
                <a16:creationId xmlns:a16="http://schemas.microsoft.com/office/drawing/2014/main" id="{7D20038A-AF62-48E2-90CE-90612F59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9295" y="3857625"/>
            <a:ext cx="925830" cy="8573"/>
          </a:xfrm>
          <a:custGeom xmlns:a="http://schemas.openxmlformats.org/drawingml/2006/main">
            <a:pathLst>
              <a:path w="1028700" h="9525">
                <a:moveTo>
                  <a:pt x="0" y="0"/>
                </a:moveTo>
                <a:lnTo>
                  <a:pt x="1028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6" name="118-flow">
            <a:extLst xmlns:a="http://schemas.openxmlformats.org/drawingml/2006/main">
              <a:ext uri="{FF2B5EF4-FFF2-40B4-BE49-F238E27FC236}">
                <a16:creationId xmlns:a16="http://schemas.microsoft.com/office/drawing/2014/main" id="{1E1A3EE6-76FE-49A3-BAC2-10946FBB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43125"/>
            <a:ext cx="1200150" cy="1714500"/>
          </a:xfrm>
          <a:custGeom xmlns:a="http://schemas.openxmlformats.org/drawingml/2006/main">
            <a:pathLst>
              <a:path w="1333500" h="1905000">
                <a:moveTo>
                  <a:pt x="0" y="1905000"/>
                </a:moveTo>
                <a:lnTo>
                  <a:pt x="0" y="0"/>
                </a:lnTo>
                <a:lnTo>
                  <a:pt x="133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7" name="119-arrowhead">
            <a:extLst xmlns:a="http://schemas.openxmlformats.org/drawingml/2006/main">
              <a:ext uri="{FF2B5EF4-FFF2-40B4-BE49-F238E27FC236}">
                <a16:creationId xmlns:a16="http://schemas.microsoft.com/office/drawing/2014/main" id="{D51C1424-4A51-40FB-9B9F-7C96808F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123" y="2107121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8" name="120-flow">
            <a:extLst xmlns:a="http://schemas.openxmlformats.org/drawingml/2006/main">
              <a:ext uri="{FF2B5EF4-FFF2-40B4-BE49-F238E27FC236}">
                <a16:creationId xmlns:a16="http://schemas.microsoft.com/office/drawing/2014/main" id="{1E1D51E9-56E8-4CB5-91F0-056DE029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57625"/>
            <a:ext cx="857250" cy="8573"/>
          </a:xfrm>
          <a:custGeom xmlns:a="http://schemas.openxmlformats.org/drawingml/2006/main"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9" name="121-arrowhead">
            <a:extLst xmlns:a="http://schemas.openxmlformats.org/drawingml/2006/main">
              <a:ext uri="{FF2B5EF4-FFF2-40B4-BE49-F238E27FC236}">
                <a16:creationId xmlns:a16="http://schemas.microsoft.com/office/drawing/2014/main" id="{C8AB10E7-D320-4752-9D2B-A0CC026A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223" y="3821621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10" name="122-flow">
            <a:extLst xmlns:a="http://schemas.openxmlformats.org/drawingml/2006/main">
              <a:ext uri="{FF2B5EF4-FFF2-40B4-BE49-F238E27FC236}">
                <a16:creationId xmlns:a16="http://schemas.microsoft.com/office/drawing/2014/main" id="{8E750454-51D8-4989-A0AF-1221F196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57625"/>
            <a:ext cx="1200150" cy="1714500"/>
          </a:xfrm>
          <a:custGeom xmlns:a="http://schemas.openxmlformats.org/drawingml/2006/main">
            <a:pathLst>
              <a:path w="1333500" h="1905000">
                <a:moveTo>
                  <a:pt x="0" y="0"/>
                </a:moveTo>
                <a:lnTo>
                  <a:pt x="0" y="1905000"/>
                </a:lnTo>
                <a:lnTo>
                  <a:pt x="1333500" y="190500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11" name="123-arrowhead">
            <a:extLst xmlns:a="http://schemas.openxmlformats.org/drawingml/2006/main">
              <a:ext uri="{FF2B5EF4-FFF2-40B4-BE49-F238E27FC236}">
                <a16:creationId xmlns:a16="http://schemas.microsoft.com/office/drawing/2014/main" id="{D349B920-62E3-4766-AAA0-A33CD6F3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123" y="5536121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12" name="124-junction">
            <a:extLst xmlns:a="http://schemas.openxmlformats.org/drawingml/2006/main">
              <a:ext uri="{FF2B5EF4-FFF2-40B4-BE49-F238E27FC236}">
                <a16:creationId xmlns:a16="http://schemas.microsoft.com/office/drawing/2014/main" id="{8EB7524E-8272-42DC-85A4-7DD92D83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5121" y="3827621"/>
            <a:ext cx="60008" cy="60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13" name="125-flow">
            <a:extLst xmlns:a="http://schemas.openxmlformats.org/drawingml/2006/main">
              <a:ext uri="{FF2B5EF4-FFF2-40B4-BE49-F238E27FC236}">
                <a16:creationId xmlns:a16="http://schemas.microsoft.com/office/drawing/2014/main" id="{3C2D3FA3-C20D-459F-B1CF-076F5B71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43125"/>
            <a:ext cx="4603433" cy="8573"/>
          </a:xfrm>
          <a:custGeom xmlns:a="http://schemas.openxmlformats.org/drawingml/2006/main">
            <a:pathLst>
              <a:path w="5114925" h="9525">
                <a:moveTo>
                  <a:pt x="0" y="0"/>
                </a:moveTo>
                <a:lnTo>
                  <a:pt x="5114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6186B5"/>
            </a:solidFill>
            <a:prstDash val="solid"/>
          </a:ln>
        </p:spPr>
      </p:sp>
      <p:sp>
        <p:nvSpPr>
          <p:cNvPr id="14" name="126-arrowhead">
            <a:extLst xmlns:a="http://schemas.openxmlformats.org/drawingml/2006/main">
              <a:ext uri="{FF2B5EF4-FFF2-40B4-BE49-F238E27FC236}">
                <a16:creationId xmlns:a16="http://schemas.microsoft.com/office/drawing/2014/main" id="{B4F07CAC-1D25-41A8-B1AA-B6B78224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680" y="2107121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6186B5"/>
          </a:solidFill>
          <a:ln xmlns:a="http://schemas.openxmlformats.org/drawingml/2006/main" w="0">
            <a:noFill/>
          </a:ln>
        </p:spPr>
      </p:sp>
      <p:sp>
        <p:nvSpPr>
          <p:cNvPr id="15" name="127-flow">
            <a:extLst xmlns:a="http://schemas.openxmlformats.org/drawingml/2006/main">
              <a:ext uri="{FF2B5EF4-FFF2-40B4-BE49-F238E27FC236}">
                <a16:creationId xmlns:a16="http://schemas.microsoft.com/office/drawing/2014/main" id="{0F71BEEA-033B-4153-A4A3-93690B2C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857625"/>
            <a:ext cx="514350" cy="8573"/>
          </a:xfrm>
          <a:custGeom xmlns:a="http://schemas.openxmlformats.org/drawingml/2006/main"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B87C3D"/>
            </a:solidFill>
            <a:prstDash val="solid"/>
          </a:ln>
        </p:spPr>
      </p:sp>
      <p:sp>
        <p:nvSpPr>
          <p:cNvPr id="16" name="128-arrowhead">
            <a:extLst xmlns:a="http://schemas.openxmlformats.org/drawingml/2006/main">
              <a:ext uri="{FF2B5EF4-FFF2-40B4-BE49-F238E27FC236}">
                <a16:creationId xmlns:a16="http://schemas.microsoft.com/office/drawing/2014/main" id="{1AA3B207-8E41-40D3-A33E-E92E7257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623" y="3821621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B87C3D"/>
          </a:solidFill>
          <a:ln xmlns:a="http://schemas.openxmlformats.org/drawingml/2006/main" w="0">
            <a:noFill/>
          </a:ln>
        </p:spPr>
      </p:sp>
      <p:sp>
        <p:nvSpPr>
          <p:cNvPr id="17" name="129-flow">
            <a:extLst xmlns:a="http://schemas.openxmlformats.org/drawingml/2006/main">
              <a:ext uri="{FF2B5EF4-FFF2-40B4-BE49-F238E27FC236}">
                <a16:creationId xmlns:a16="http://schemas.microsoft.com/office/drawing/2014/main" id="{37239C1D-6215-46AD-A315-62D8DF34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857625"/>
            <a:ext cx="514350" cy="8573"/>
          </a:xfrm>
          <a:custGeom xmlns:a="http://schemas.openxmlformats.org/drawingml/2006/main"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B87C3D"/>
            </a:solidFill>
            <a:prstDash val="solid"/>
          </a:ln>
        </p:spPr>
      </p:sp>
      <p:sp>
        <p:nvSpPr>
          <p:cNvPr id="18" name="130-arrowhead">
            <a:extLst xmlns:a="http://schemas.openxmlformats.org/drawingml/2006/main">
              <a:ext uri="{FF2B5EF4-FFF2-40B4-BE49-F238E27FC236}">
                <a16:creationId xmlns:a16="http://schemas.microsoft.com/office/drawing/2014/main" id="{8C3E12D0-7227-4B9A-9F3D-BC0A8BA2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023" y="3821621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B87C3D"/>
          </a:solidFill>
          <a:ln xmlns:a="http://schemas.openxmlformats.org/drawingml/2006/main" w="0">
            <a:noFill/>
          </a:ln>
        </p:spPr>
      </p:sp>
      <p:sp>
        <p:nvSpPr>
          <p:cNvPr id="19" name="131-flow">
            <a:extLst xmlns:a="http://schemas.openxmlformats.org/drawingml/2006/main">
              <a:ext uri="{FF2B5EF4-FFF2-40B4-BE49-F238E27FC236}">
                <a16:creationId xmlns:a16="http://schemas.microsoft.com/office/drawing/2014/main" id="{A14780DA-7C98-48D3-AAC3-57E431CE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857625"/>
            <a:ext cx="514350" cy="8573"/>
          </a:xfrm>
          <a:custGeom xmlns:a="http://schemas.openxmlformats.org/drawingml/2006/main"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B87C3D"/>
            </a:solidFill>
            <a:prstDash val="solid"/>
          </a:ln>
        </p:spPr>
      </p:sp>
      <p:sp>
        <p:nvSpPr>
          <p:cNvPr id="20" name="132-flow">
            <a:extLst xmlns:a="http://schemas.openxmlformats.org/drawingml/2006/main">
              <a:ext uri="{FF2B5EF4-FFF2-40B4-BE49-F238E27FC236}">
                <a16:creationId xmlns:a16="http://schemas.microsoft.com/office/drawing/2014/main" id="{52BAC5F4-8AC4-4697-852C-9299AE38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086100"/>
            <a:ext cx="514350" cy="771525"/>
          </a:xfrm>
          <a:custGeom xmlns:a="http://schemas.openxmlformats.org/drawingml/2006/main">
            <a:pathLst>
              <a:path w="571500" h="857250">
                <a:moveTo>
                  <a:pt x="0" y="857250"/>
                </a:moveTo>
                <a:lnTo>
                  <a:pt x="0" y="0"/>
                </a:ln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B87C3D"/>
            </a:solidFill>
            <a:prstDash val="solid"/>
          </a:ln>
        </p:spPr>
      </p:sp>
      <p:sp>
        <p:nvSpPr>
          <p:cNvPr id="21" name="133-arrowhead">
            <a:extLst xmlns:a="http://schemas.openxmlformats.org/drawingml/2006/main">
              <a:ext uri="{FF2B5EF4-FFF2-40B4-BE49-F238E27FC236}">
                <a16:creationId xmlns:a16="http://schemas.microsoft.com/office/drawing/2014/main" id="{749C3A44-6DE6-4C84-9E4A-E0DBAFE6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773" y="3050096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B87C3D"/>
          </a:solidFill>
          <a:ln xmlns:a="http://schemas.openxmlformats.org/drawingml/2006/main" w="0">
            <a:noFill/>
          </a:ln>
        </p:spPr>
      </p:sp>
      <p:sp>
        <p:nvSpPr>
          <p:cNvPr id="22" name="134-flow">
            <a:extLst xmlns:a="http://schemas.openxmlformats.org/drawingml/2006/main">
              <a:ext uri="{FF2B5EF4-FFF2-40B4-BE49-F238E27FC236}">
                <a16:creationId xmlns:a16="http://schemas.microsoft.com/office/drawing/2014/main" id="{5B501A6A-AAB4-477D-BAF6-7EEBFF77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40293"/>
            <a:ext cx="8573" cy="488633"/>
          </a:xfrm>
          <a:custGeom xmlns:a="http://schemas.openxmlformats.org/drawingml/2006/main">
            <a:pathLst>
              <a:path w="9525" h="542925">
                <a:moveTo>
                  <a:pt x="0" y="5429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B87C3D"/>
            </a:solidFill>
            <a:prstDash val="solid"/>
          </a:ln>
        </p:spPr>
      </p:sp>
      <p:sp>
        <p:nvSpPr>
          <p:cNvPr id="23" name="135-arrowhead">
            <a:extLst xmlns:a="http://schemas.openxmlformats.org/drawingml/2006/main">
              <a:ext uri="{FF2B5EF4-FFF2-40B4-BE49-F238E27FC236}">
                <a16:creationId xmlns:a16="http://schemas.microsoft.com/office/drawing/2014/main" id="{5935E8B8-0DE8-469C-8947-B0D5F1EB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2996" y="2340293"/>
            <a:ext cx="72009" cy="77153"/>
          </a:xfrm>
          <a:custGeom xmlns:a="http://schemas.openxmlformats.org/drawingml/2006/main">
            <a:pathLst>
              <a:path w="80010" h="85725">
                <a:moveTo>
                  <a:pt x="40005" y="0"/>
                </a:moveTo>
                <a:lnTo>
                  <a:pt x="0" y="85725"/>
                </a:lnTo>
                <a:lnTo>
                  <a:pt x="80010" y="85725"/>
                </a:lnTo>
                <a:close/>
              </a:path>
            </a:pathLst>
          </a:custGeom>
          <a:solidFill xmlns:a="http://schemas.openxmlformats.org/drawingml/2006/main">
            <a:srgbClr val="B87C3D"/>
          </a:solidFill>
          <a:ln xmlns:a="http://schemas.openxmlformats.org/drawingml/2006/main" w="0">
            <a:noFill/>
          </a:ln>
        </p:spPr>
      </p:sp>
      <p:sp>
        <p:nvSpPr>
          <p:cNvPr id="24" name="136-flow">
            <a:extLst xmlns:a="http://schemas.openxmlformats.org/drawingml/2006/main">
              <a:ext uri="{FF2B5EF4-FFF2-40B4-BE49-F238E27FC236}">
                <a16:creationId xmlns:a16="http://schemas.microsoft.com/office/drawing/2014/main" id="{9D78600A-B2C9-4967-9433-DA2F13E9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857625"/>
            <a:ext cx="1114425" cy="1517333"/>
          </a:xfrm>
          <a:custGeom xmlns:a="http://schemas.openxmlformats.org/drawingml/2006/main">
            <a:pathLst>
              <a:path w="1238250" h="1685925">
                <a:moveTo>
                  <a:pt x="0" y="0"/>
                </a:moveTo>
                <a:lnTo>
                  <a:pt x="0" y="952500"/>
                </a:lnTo>
                <a:lnTo>
                  <a:pt x="1238250" y="952500"/>
                </a:lnTo>
                <a:lnTo>
                  <a:pt x="1238250" y="1685925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B87C3D"/>
            </a:solidFill>
            <a:prstDash val="solid"/>
          </a:ln>
        </p:spPr>
      </p:sp>
      <p:sp>
        <p:nvSpPr>
          <p:cNvPr id="25" name="137-arrowhead">
            <a:extLst xmlns:a="http://schemas.openxmlformats.org/drawingml/2006/main">
              <a:ext uri="{FF2B5EF4-FFF2-40B4-BE49-F238E27FC236}">
                <a16:creationId xmlns:a16="http://schemas.microsoft.com/office/drawing/2014/main" id="{05651A9C-B960-4DBD-B2E1-BDD31FC4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2996" y="5297805"/>
            <a:ext cx="72009" cy="77153"/>
          </a:xfrm>
          <a:custGeom xmlns:a="http://schemas.openxmlformats.org/drawingml/2006/main">
            <a:pathLst>
              <a:path w="80010" h="85725">
                <a:moveTo>
                  <a:pt x="40005" y="85725"/>
                </a:moveTo>
                <a:lnTo>
                  <a:pt x="8001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87C3D"/>
          </a:solidFill>
          <a:ln xmlns:a="http://schemas.openxmlformats.org/drawingml/2006/main" w="0">
            <a:noFill/>
          </a:ln>
        </p:spPr>
      </p:sp>
      <p:sp>
        <p:nvSpPr>
          <p:cNvPr id="26" name="138-junction">
            <a:extLst xmlns:a="http://schemas.openxmlformats.org/drawingml/2006/main">
              <a:ext uri="{FF2B5EF4-FFF2-40B4-BE49-F238E27FC236}">
                <a16:creationId xmlns:a16="http://schemas.microsoft.com/office/drawing/2014/main" id="{8C8E0F12-F550-4DCA-BD20-B0E28470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4571" y="3827621"/>
            <a:ext cx="60008" cy="60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C3D"/>
          </a:solidFill>
          <a:ln xmlns:a="http://schemas.openxmlformats.org/drawingml/2006/main" w="0">
            <a:noFill/>
          </a:ln>
        </p:spPr>
      </p:sp>
      <p:sp>
        <p:nvSpPr>
          <p:cNvPr id="27" name="139-flow">
            <a:extLst xmlns:a="http://schemas.openxmlformats.org/drawingml/2006/main">
              <a:ext uri="{FF2B5EF4-FFF2-40B4-BE49-F238E27FC236}">
                <a16:creationId xmlns:a16="http://schemas.microsoft.com/office/drawing/2014/main" id="{4AD5C1E6-CC02-4084-9B8D-C19534B1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72125"/>
            <a:ext cx="4603433" cy="8573"/>
          </a:xfrm>
          <a:custGeom xmlns:a="http://schemas.openxmlformats.org/drawingml/2006/main">
            <a:pathLst>
              <a:path w="5114925" h="9525">
                <a:moveTo>
                  <a:pt x="0" y="0"/>
                </a:moveTo>
                <a:lnTo>
                  <a:pt x="5114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C907C"/>
            </a:solidFill>
            <a:prstDash val="solid"/>
          </a:ln>
        </p:spPr>
      </p:sp>
      <p:sp>
        <p:nvSpPr>
          <p:cNvPr id="28" name="140-arrowhead">
            <a:extLst xmlns:a="http://schemas.openxmlformats.org/drawingml/2006/main">
              <a:ext uri="{FF2B5EF4-FFF2-40B4-BE49-F238E27FC236}">
                <a16:creationId xmlns:a16="http://schemas.microsoft.com/office/drawing/2014/main" id="{FDD4D732-85B9-40E4-ADA5-9A109F5C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680" y="5536121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4C907C"/>
          </a:solidFill>
          <a:ln xmlns:a="http://schemas.openxmlformats.org/drawingml/2006/main" w="0">
            <a:noFill/>
          </a:ln>
        </p:spPr>
      </p:sp>
      <p:sp>
        <p:nvSpPr>
          <p:cNvPr id="29" name="141-flow">
            <a:extLst xmlns:a="http://schemas.openxmlformats.org/drawingml/2006/main">
              <a:ext uri="{FF2B5EF4-FFF2-40B4-BE49-F238E27FC236}">
                <a16:creationId xmlns:a16="http://schemas.microsoft.com/office/drawing/2014/main" id="{F1C5A9B8-94E4-4683-A7B1-33FABBE7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6168" y="2143125"/>
            <a:ext cx="1345883" cy="1517333"/>
          </a:xfrm>
          <a:custGeom xmlns:a="http://schemas.openxmlformats.org/drawingml/2006/main">
            <a:pathLst>
              <a:path w="1495425" h="1685925">
                <a:moveTo>
                  <a:pt x="0" y="0"/>
                </a:moveTo>
                <a:lnTo>
                  <a:pt x="1495425" y="0"/>
                </a:lnTo>
                <a:lnTo>
                  <a:pt x="1495425" y="1685925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30" name="142-arrowhead">
            <a:extLst xmlns:a="http://schemas.openxmlformats.org/drawingml/2006/main">
              <a:ext uri="{FF2B5EF4-FFF2-40B4-BE49-F238E27FC236}">
                <a16:creationId xmlns:a16="http://schemas.microsoft.com/office/drawing/2014/main" id="{66A2C0F6-EEF2-46FD-8CE4-6112E76E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6046" y="3583305"/>
            <a:ext cx="72009" cy="77153"/>
          </a:xfrm>
          <a:custGeom xmlns:a="http://schemas.openxmlformats.org/drawingml/2006/main">
            <a:pathLst>
              <a:path w="80010" h="85725">
                <a:moveTo>
                  <a:pt x="40005" y="85725"/>
                </a:moveTo>
                <a:lnTo>
                  <a:pt x="8001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31" name="143-flow">
            <a:extLst xmlns:a="http://schemas.openxmlformats.org/drawingml/2006/main">
              <a:ext uri="{FF2B5EF4-FFF2-40B4-BE49-F238E27FC236}">
                <a16:creationId xmlns:a16="http://schemas.microsoft.com/office/drawing/2014/main" id="{F1329B53-4617-46A7-8F9C-F81C4283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6168" y="4054793"/>
            <a:ext cx="1345883" cy="1517333"/>
          </a:xfrm>
          <a:custGeom xmlns:a="http://schemas.openxmlformats.org/drawingml/2006/main">
            <a:pathLst>
              <a:path w="1495425" h="1685925">
                <a:moveTo>
                  <a:pt x="0" y="1685925"/>
                </a:moveTo>
                <a:lnTo>
                  <a:pt x="1495425" y="1685925"/>
                </a:lnTo>
                <a:lnTo>
                  <a:pt x="1495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32" name="144-arrowhead">
            <a:extLst xmlns:a="http://schemas.openxmlformats.org/drawingml/2006/main">
              <a:ext uri="{FF2B5EF4-FFF2-40B4-BE49-F238E27FC236}">
                <a16:creationId xmlns:a16="http://schemas.microsoft.com/office/drawing/2014/main" id="{61B00B4C-BA40-4424-8BA7-35B86D43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6046" y="4054793"/>
            <a:ext cx="72009" cy="77153"/>
          </a:xfrm>
          <a:custGeom xmlns:a="http://schemas.openxmlformats.org/drawingml/2006/main">
            <a:pathLst>
              <a:path w="80010" h="85725">
                <a:moveTo>
                  <a:pt x="40005" y="0"/>
                </a:moveTo>
                <a:lnTo>
                  <a:pt x="0" y="85725"/>
                </a:lnTo>
                <a:lnTo>
                  <a:pt x="80010" y="85725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33" name="145-flow">
            <a:extLst xmlns:a="http://schemas.openxmlformats.org/drawingml/2006/main">
              <a:ext uri="{FF2B5EF4-FFF2-40B4-BE49-F238E27FC236}">
                <a16:creationId xmlns:a16="http://schemas.microsoft.com/office/drawing/2014/main" id="{053281F3-1963-4F3A-AA02-02C3A067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9218" y="3857625"/>
            <a:ext cx="745808" cy="8573"/>
          </a:xfrm>
          <a:custGeom xmlns:a="http://schemas.openxmlformats.org/drawingml/2006/main">
            <a:pathLst>
              <a:path w="828675" h="9525">
                <a:moveTo>
                  <a:pt x="0" y="0"/>
                </a:moveTo>
                <a:lnTo>
                  <a:pt x="828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34" name="146-arrowhead">
            <a:extLst xmlns:a="http://schemas.openxmlformats.org/drawingml/2006/main">
              <a:ext uri="{FF2B5EF4-FFF2-40B4-BE49-F238E27FC236}">
                <a16:creationId xmlns:a16="http://schemas.microsoft.com/office/drawing/2014/main" id="{DE985CB7-2309-48E0-81D1-020448FB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7873" y="3821621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35" name="147-X">
            <a:extLst xmlns:a="http://schemas.openxmlformats.org/drawingml/2006/main">
              <a:ext uri="{FF2B5EF4-FFF2-40B4-BE49-F238E27FC236}">
                <a16:creationId xmlns:a16="http://schemas.microsoft.com/office/drawing/2014/main" id="{99D4F23B-1B2C-4624-92F3-C4963219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663" y="3591878"/>
            <a:ext cx="428625" cy="437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98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498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pPr>
            <a:r>
              <a:rPr sz="2498" b="0">
                <a:solidFill>
                  <a:srgbClr val="243445"/>
                </a:solidFill>
                <a:latin typeface="Cambria Math"/>
                <a:ea typeface="Cambria Math"/>
                <a:cs typeface="Cambria Math"/>
              </a:rPr>
              <a:t>X</a:t>
            </a:r>
          </a:p>
        </p:txBody>
      </p:sp>
      <p:sp>
        <p:nvSpPr>
          <p:cNvPr id="36" name="148-C × H × W">
            <a:extLst xmlns:a="http://schemas.openxmlformats.org/drawingml/2006/main">
              <a:ext uri="{FF2B5EF4-FFF2-40B4-BE49-F238E27FC236}">
                <a16:creationId xmlns:a16="http://schemas.microsoft.com/office/drawing/2014/main" id="{921ED547-9F2D-4604-89A9-F549099D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97655"/>
            <a:ext cx="1414463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52" b="0">
                <a:solidFill>
                  <a:srgbClr val="637386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552" b="0">
                <a:solidFill>
                  <a:srgbClr val="637386"/>
                </a:solidFill>
                <a:latin typeface="Cambria Math"/>
                <a:ea typeface="Cambria Math"/>
                <a:cs typeface="Cambria Math"/>
              </a:defRPr>
            </a:pPr>
            <a:r>
              <a:rPr sz="1552" b="0">
                <a:solidFill>
                  <a:srgbClr val="637386"/>
                </a:solidFill>
                <a:latin typeface="Cambria Math"/>
                <a:ea typeface="Cambria Math"/>
                <a:cs typeface="Cambria Math"/>
              </a:rPr>
              <a:t>C × H × W</a:t>
            </a:r>
          </a:p>
        </p:txBody>
      </p:sp>
      <p:sp>
        <p:nvSpPr>
          <p:cNvPr id="37" name="149-Nearest × 2">
            <a:extLst xmlns:a="http://schemas.openxmlformats.org/drawingml/2006/main">
              <a:ext uri="{FF2B5EF4-FFF2-40B4-BE49-F238E27FC236}">
                <a16:creationId xmlns:a16="http://schemas.microsoft.com/office/drawing/2014/main" id="{163BB024-432D-4A38-AB43-76DA8BA8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757363"/>
            <a:ext cx="2143125" cy="771525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E7EFFA"/>
          </a:solidFill>
          <a:ln xmlns:a="http://schemas.openxmlformats.org/drawingml/2006/main" w="16193">
            <a:solidFill>
              <a:srgbClr val="6186B5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434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43445"/>
                </a:solidFill>
                <a:latin typeface="Arial"/>
                <a:ea typeface="Arial"/>
                <a:cs typeface="Arial"/>
              </a:rPr>
              <a:t>Nearest × 2</a:t>
            </a:r>
          </a:p>
        </p:txBody>
      </p:sp>
      <p:sp>
        <p:nvSpPr>
          <p:cNvPr id="38" name="150-Bilinear × 2">
            <a:extLst xmlns:a="http://schemas.openxmlformats.org/drawingml/2006/main">
              <a:ext uri="{FF2B5EF4-FFF2-40B4-BE49-F238E27FC236}">
                <a16:creationId xmlns:a16="http://schemas.microsoft.com/office/drawing/2014/main" id="{92DEC608-E34A-4142-974D-E9515285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5186363"/>
            <a:ext cx="2143125" cy="771525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E2F2EC"/>
          </a:solidFill>
          <a:ln xmlns:a="http://schemas.openxmlformats.org/drawingml/2006/main" w="16193">
            <a:solidFill>
              <a:srgbClr val="4C907C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2025">
                <a:solidFill>
                  <a:srgbClr val="2434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025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243445"/>
                </a:solidFill>
                <a:latin typeface="Arial"/>
                <a:ea typeface="Arial"/>
                <a:cs typeface="Arial"/>
              </a:rPr>
              <a:t>Bilinear × 2</a:t>
            </a:r>
          </a:p>
        </p:txBody>
      </p:sp>
      <p:sp>
        <p:nvSpPr>
          <p:cNvPr id="39" name="151-align_corners = False">
            <a:extLst xmlns:a="http://schemas.openxmlformats.org/drawingml/2006/main">
              <a:ext uri="{FF2B5EF4-FFF2-40B4-BE49-F238E27FC236}">
                <a16:creationId xmlns:a16="http://schemas.microsoft.com/office/drawing/2014/main" id="{C0343BFC-2C24-4D1F-B501-5011D6C5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992178"/>
            <a:ext cx="2314575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18" b="0">
                <a:solidFill>
                  <a:srgbClr val="6373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18" b="0">
                <a:solidFill>
                  <a:srgbClr val="637386"/>
                </a:solidFill>
                <a:latin typeface="Arial"/>
                <a:ea typeface="Arial"/>
                <a:cs typeface="Arial"/>
              </a:defRPr>
            </a:pPr>
            <a:r>
              <a:rPr sz="1418" b="0">
                <a:solidFill>
                  <a:srgbClr val="637386"/>
                </a:solidFill>
                <a:latin typeface="Arial"/>
                <a:ea typeface="Arial"/>
                <a:cs typeface="Arial"/>
              </a:rPr>
              <a:t>align_corners = False</a:t>
            </a:r>
          </a:p>
        </p:txBody>
      </p:sp>
      <p:sp>
        <p:nvSpPr>
          <p:cNvPr id="40" name="152-3 × 3 Conv C → 1">
            <a:extLst xmlns:a="http://schemas.openxmlformats.org/drawingml/2006/main">
              <a:ext uri="{FF2B5EF4-FFF2-40B4-BE49-F238E27FC236}">
                <a16:creationId xmlns:a16="http://schemas.microsoft.com/office/drawing/2014/main" id="{8E30B372-4FD4-4383-930D-C668E0FC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514725"/>
            <a:ext cx="1543050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BE9D9"/>
          </a:solidFill>
          <a:ln xmlns:a="http://schemas.openxmlformats.org/drawingml/2006/main" w="16193">
            <a:solidFill>
              <a:srgbClr val="C28E57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688">
                <a:solidFill>
                  <a:srgbClr val="2434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88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1688">
                <a:solidFill>
                  <a:srgbClr val="243445"/>
                </a:solidFill>
                <a:latin typeface="Arial"/>
                <a:ea typeface="Arial"/>
                <a:cs typeface="Arial"/>
              </a:rPr>
              <a:t>3 × 3 Conv</a:t>
            </a:r>
          </a:p>
          <a:p xmlns:a="http://schemas.openxmlformats.org/drawingml/2006/main">
            <a:pPr algn="ctr">
              <a:defRPr sz="1688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1688">
                <a:solidFill>
                  <a:srgbClr val="243445"/>
                </a:solidFill>
                <a:latin typeface="Arial"/>
                <a:ea typeface="Arial"/>
                <a:cs typeface="Arial"/>
              </a:rPr>
              <a:t>C → 1</a:t>
            </a:r>
          </a:p>
        </p:txBody>
      </p:sp>
      <p:sp>
        <p:nvSpPr>
          <p:cNvPr id="41" name="153-Hardsigmoid">
            <a:extLst xmlns:a="http://schemas.openxmlformats.org/drawingml/2006/main">
              <a:ext uri="{FF2B5EF4-FFF2-40B4-BE49-F238E27FC236}">
                <a16:creationId xmlns:a16="http://schemas.microsoft.com/office/drawing/2014/main" id="{B85A61CA-27A5-4990-88EF-002C0712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514725"/>
            <a:ext cx="1543050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BE9D9"/>
          </a:solidFill>
          <a:ln xmlns:a="http://schemas.openxmlformats.org/drawingml/2006/main" w="16193">
            <a:solidFill>
              <a:srgbClr val="C28E57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688">
                <a:solidFill>
                  <a:srgbClr val="2434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88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1688">
                <a:solidFill>
                  <a:srgbClr val="243445"/>
                </a:solidFill>
                <a:latin typeface="Arial"/>
                <a:ea typeface="Arial"/>
                <a:cs typeface="Arial"/>
              </a:rPr>
              <a:t>Hardsigmoid</a:t>
            </a:r>
          </a:p>
        </p:txBody>
      </p:sp>
      <p:sp>
        <p:nvSpPr>
          <p:cNvPr id="42" name="154-Nearest × 2">
            <a:extLst xmlns:a="http://schemas.openxmlformats.org/drawingml/2006/main">
              <a:ext uri="{FF2B5EF4-FFF2-40B4-BE49-F238E27FC236}">
                <a16:creationId xmlns:a16="http://schemas.microsoft.com/office/drawing/2014/main" id="{CE533907-0B84-4DD9-93FF-70A15227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514725"/>
            <a:ext cx="1543050" cy="6858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BE9D9"/>
          </a:solidFill>
          <a:ln xmlns:a="http://schemas.openxmlformats.org/drawingml/2006/main" w="16193">
            <a:solidFill>
              <a:srgbClr val="C28E57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688">
                <a:solidFill>
                  <a:srgbClr val="2434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88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1688">
                <a:solidFill>
                  <a:srgbClr val="243445"/>
                </a:solidFill>
                <a:latin typeface="Arial"/>
                <a:ea typeface="Arial"/>
                <a:cs typeface="Arial"/>
              </a:rPr>
              <a:t>Nearest × 2</a:t>
            </a:r>
          </a:p>
        </p:txBody>
      </p:sp>
      <p:sp>
        <p:nvSpPr>
          <p:cNvPr id="43" name="155-1 × H × W">
            <a:extLst xmlns:a="http://schemas.openxmlformats.org/drawingml/2006/main">
              <a:ext uri="{FF2B5EF4-FFF2-40B4-BE49-F238E27FC236}">
                <a16:creationId xmlns:a16="http://schemas.microsoft.com/office/drawing/2014/main" id="{C8820640-BCA0-41BC-AD20-D73543EC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5463" y="4251960"/>
            <a:ext cx="1928813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85" b="0">
                <a:solidFill>
                  <a:srgbClr val="637386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485" b="0">
                <a:solidFill>
                  <a:srgbClr val="637386"/>
                </a:solidFill>
                <a:latin typeface="Cambria Math"/>
                <a:ea typeface="Cambria Math"/>
                <a:cs typeface="Cambria Math"/>
              </a:defRPr>
            </a:pPr>
            <a:r>
              <a:rPr sz="1485" b="0">
                <a:solidFill>
                  <a:srgbClr val="637386"/>
                </a:solidFill>
                <a:latin typeface="Cambria Math"/>
                <a:ea typeface="Cambria Math"/>
                <a:cs typeface="Cambria Math"/>
              </a:rPr>
              <a:t>1 × H × W</a:t>
            </a:r>
          </a:p>
        </p:txBody>
      </p:sp>
      <p:sp>
        <p:nvSpPr>
          <p:cNvPr id="44" name="156-G">
            <a:extLst xmlns:a="http://schemas.openxmlformats.org/drawingml/2006/main">
              <a:ext uri="{FF2B5EF4-FFF2-40B4-BE49-F238E27FC236}">
                <a16:creationId xmlns:a16="http://schemas.microsoft.com/office/drawing/2014/main" id="{EA98EB97-AD8E-4750-A3BE-119CFB1A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8813" y="3463290"/>
            <a:ext cx="385763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8" b="0">
                <a:solidFill>
                  <a:srgbClr val="B87C3D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958" b="0">
                <a:solidFill>
                  <a:srgbClr val="B87C3D"/>
                </a:solidFill>
                <a:latin typeface="Cambria Math"/>
                <a:ea typeface="Cambria Math"/>
                <a:cs typeface="Cambria Math"/>
              </a:defRPr>
            </a:pPr>
            <a:r>
              <a:rPr sz="1958" b="0">
                <a:solidFill>
                  <a:srgbClr val="B87C3D"/>
                </a:solidFill>
                <a:latin typeface="Cambria Math"/>
                <a:ea typeface="Cambria Math"/>
                <a:cs typeface="Cambria Math"/>
              </a:rPr>
              <a:t>G</a:t>
            </a:r>
          </a:p>
        </p:txBody>
      </p:sp>
      <p:sp>
        <p:nvSpPr>
          <p:cNvPr id="45" name="157-1 × 2H × 2W">
            <a:extLst xmlns:a="http://schemas.openxmlformats.org/drawingml/2006/main">
              <a:ext uri="{FF2B5EF4-FFF2-40B4-BE49-F238E27FC236}">
                <a16:creationId xmlns:a16="http://schemas.microsoft.com/office/drawing/2014/main" id="{EC69913A-487E-448C-B129-CFA296AA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60533"/>
            <a:ext cx="1800225" cy="2657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485" b="0">
                <a:solidFill>
                  <a:srgbClr val="637386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r">
              <a:defRPr sz="1485" b="0">
                <a:solidFill>
                  <a:srgbClr val="637386"/>
                </a:solidFill>
                <a:latin typeface="Cambria Math"/>
                <a:ea typeface="Cambria Math"/>
                <a:cs typeface="Cambria Math"/>
              </a:defRPr>
            </a:pPr>
            <a:r>
              <a:rPr sz="1485" b="0">
                <a:solidFill>
                  <a:srgbClr val="637386"/>
                </a:solidFill>
                <a:latin typeface="Cambria Math"/>
                <a:ea typeface="Cambria Math"/>
                <a:cs typeface="Cambria Math"/>
              </a:rPr>
              <a:t>1 × 2H × 2W</a:t>
            </a:r>
          </a:p>
        </p:txBody>
      </p:sp>
      <p:sp>
        <p:nvSpPr>
          <p:cNvPr id="46" name="158-1 − G">
            <a:extLst xmlns:a="http://schemas.openxmlformats.org/drawingml/2006/main">
              <a:ext uri="{FF2B5EF4-FFF2-40B4-BE49-F238E27FC236}">
                <a16:creationId xmlns:a16="http://schemas.microsoft.com/office/drawing/2014/main" id="{13E915FC-CE26-4FB2-9CD7-7679A7FF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828925"/>
            <a:ext cx="1200150" cy="51435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FBE9D9"/>
          </a:solidFill>
          <a:ln xmlns:a="http://schemas.openxmlformats.org/drawingml/2006/main" w="16193">
            <a:solidFill>
              <a:srgbClr val="C28E57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890">
                <a:solidFill>
                  <a:srgbClr val="2434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90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1890">
                <a:solidFill>
                  <a:srgbClr val="243445"/>
                </a:solidFill>
                <a:latin typeface="Arial"/>
                <a:ea typeface="Arial"/>
                <a:cs typeface="Arial"/>
              </a:rPr>
              <a:t>1 − G</a:t>
            </a:r>
          </a:p>
        </p:txBody>
      </p:sp>
      <p:sp>
        <p:nvSpPr>
          <p:cNvPr id="47" name="159-N">
            <a:extLst xmlns:a="http://schemas.openxmlformats.org/drawingml/2006/main">
              <a:ext uri="{FF2B5EF4-FFF2-40B4-BE49-F238E27FC236}">
                <a16:creationId xmlns:a16="http://schemas.microsoft.com/office/drawing/2014/main" id="{22D56FBE-9190-42B1-9348-40A7BE47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74508"/>
            <a:ext cx="600075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243445"/>
                </a:solidFill>
                <a:latin typeface="Cambria Math"/>
                <a:ea typeface="Cambria Math"/>
                <a:cs typeface="Cambria Math"/>
              </a:rPr>
              <a:t>N</a:t>
            </a:r>
          </a:p>
        </p:txBody>
      </p:sp>
      <p:sp>
        <p:nvSpPr>
          <p:cNvPr id="48" name="160-B">
            <a:extLst xmlns:a="http://schemas.openxmlformats.org/drawingml/2006/main">
              <a:ext uri="{FF2B5EF4-FFF2-40B4-BE49-F238E27FC236}">
                <a16:creationId xmlns:a16="http://schemas.microsoft.com/office/drawing/2014/main" id="{4E56E7C3-5659-4E8B-B8F3-9EDDB09C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203508"/>
            <a:ext cx="600075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243445"/>
                </a:solidFill>
                <a:latin typeface="Cambria Math"/>
                <a:ea typeface="Cambria Math"/>
                <a:cs typeface="Cambria Math"/>
              </a:rPr>
              <a:t>B</a:t>
            </a:r>
          </a:p>
        </p:txBody>
      </p:sp>
      <p:sp>
        <p:nvSpPr>
          <p:cNvPr id="49" name="161-C × 2H × 2W">
            <a:extLst xmlns:a="http://schemas.openxmlformats.org/drawingml/2006/main">
              <a:ext uri="{FF2B5EF4-FFF2-40B4-BE49-F238E27FC236}">
                <a16:creationId xmlns:a16="http://schemas.microsoft.com/office/drawing/2014/main" id="{5FA744CD-F8F3-4EEC-97AD-9FE13EEC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237423"/>
            <a:ext cx="214312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52" b="0">
                <a:solidFill>
                  <a:srgbClr val="637386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552" b="0">
                <a:solidFill>
                  <a:srgbClr val="637386"/>
                </a:solidFill>
                <a:latin typeface="Cambria Math"/>
                <a:ea typeface="Cambria Math"/>
                <a:cs typeface="Cambria Math"/>
              </a:defRPr>
            </a:pPr>
            <a:r>
              <a:rPr sz="1552" b="0">
                <a:solidFill>
                  <a:srgbClr val="637386"/>
                </a:solidFill>
                <a:latin typeface="Cambria Math"/>
                <a:ea typeface="Cambria Math"/>
                <a:cs typeface="Cambria Math"/>
              </a:rPr>
              <a:t>C × 2H × 2W</a:t>
            </a:r>
          </a:p>
        </p:txBody>
      </p:sp>
      <p:sp>
        <p:nvSpPr>
          <p:cNvPr id="50" name="162-C × 2H × 2W">
            <a:extLst xmlns:a="http://schemas.openxmlformats.org/drawingml/2006/main">
              <a:ext uri="{FF2B5EF4-FFF2-40B4-BE49-F238E27FC236}">
                <a16:creationId xmlns:a16="http://schemas.microsoft.com/office/drawing/2014/main" id="{948EC56C-9E8B-4D88-AF01-2D4E1EDD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666423"/>
            <a:ext cx="2143125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52" b="0">
                <a:solidFill>
                  <a:srgbClr val="637386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552" b="0">
                <a:solidFill>
                  <a:srgbClr val="637386"/>
                </a:solidFill>
                <a:latin typeface="Cambria Math"/>
                <a:ea typeface="Cambria Math"/>
                <a:cs typeface="Cambria Math"/>
              </a:defRPr>
            </a:pPr>
            <a:r>
              <a:rPr sz="1552" b="0">
                <a:solidFill>
                  <a:srgbClr val="637386"/>
                </a:solidFill>
                <a:latin typeface="Cambria Math"/>
                <a:ea typeface="Cambria Math"/>
                <a:cs typeface="Cambria Math"/>
              </a:rPr>
              <a:t>C × 2H × 2W</a:t>
            </a:r>
          </a:p>
        </p:txBody>
      </p:sp>
      <p:sp>
        <p:nvSpPr>
          <p:cNvPr id="51" name="163-operator ⊙">
            <a:extLst xmlns:a="http://schemas.openxmlformats.org/drawingml/2006/main">
              <a:ext uri="{FF2B5EF4-FFF2-40B4-BE49-F238E27FC236}">
                <a16:creationId xmlns:a16="http://schemas.microsoft.com/office/drawing/2014/main" id="{B2A09184-452D-4EB6-BB63-25794638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1833" y="1945958"/>
            <a:ext cx="394335" cy="3943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3546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93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093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pPr>
            <a:r>
              <a:rPr sz="2093">
                <a:solidFill>
                  <a:srgbClr val="243445"/>
                </a:solidFill>
                <a:latin typeface="Cambria Math"/>
                <a:ea typeface="Cambria Math"/>
                <a:cs typeface="Cambria Math"/>
              </a:rPr>
              <a:t>⊙</a:t>
            </a:r>
          </a:p>
        </p:txBody>
      </p:sp>
      <p:sp>
        <p:nvSpPr>
          <p:cNvPr id="52" name="164-operator ⊙">
            <a:extLst xmlns:a="http://schemas.openxmlformats.org/drawingml/2006/main">
              <a:ext uri="{FF2B5EF4-FFF2-40B4-BE49-F238E27FC236}">
                <a16:creationId xmlns:a16="http://schemas.microsoft.com/office/drawing/2014/main" id="{E8544130-CF69-4EA4-A73D-67DFBC8A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1833" y="5374958"/>
            <a:ext cx="394335" cy="3943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3546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93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093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pPr>
            <a:r>
              <a:rPr sz="2093">
                <a:solidFill>
                  <a:srgbClr val="243445"/>
                </a:solidFill>
                <a:latin typeface="Cambria Math"/>
                <a:ea typeface="Cambria Math"/>
                <a:cs typeface="Cambria Math"/>
              </a:rPr>
              <a:t>⊙</a:t>
            </a:r>
          </a:p>
        </p:txBody>
      </p:sp>
      <p:sp>
        <p:nvSpPr>
          <p:cNvPr id="53" name="165-operator +">
            <a:extLst xmlns:a="http://schemas.openxmlformats.org/drawingml/2006/main">
              <a:ext uri="{FF2B5EF4-FFF2-40B4-BE49-F238E27FC236}">
                <a16:creationId xmlns:a16="http://schemas.microsoft.com/office/drawing/2014/main" id="{F347D625-92EF-4509-8A95-33099986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4883" y="3660458"/>
            <a:ext cx="394335" cy="3943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35466"/>
            </a:solidFill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93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093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pPr>
            <a:r>
              <a:rPr sz="2093">
                <a:solidFill>
                  <a:srgbClr val="243445"/>
                </a:solidFill>
                <a:latin typeface="Cambria Math"/>
                <a:ea typeface="Cambria Math"/>
                <a:cs typeface="Cambria Math"/>
              </a:rPr>
              <a:t>+</a:t>
            </a:r>
          </a:p>
        </p:txBody>
      </p:sp>
      <p:sp>
        <p:nvSpPr>
          <p:cNvPr id="54" name="166-Y">
            <a:extLst xmlns:a="http://schemas.openxmlformats.org/drawingml/2006/main">
              <a:ext uri="{FF2B5EF4-FFF2-40B4-BE49-F238E27FC236}">
                <a16:creationId xmlns:a16="http://schemas.microsoft.com/office/drawing/2014/main" id="{7581A5DF-96B5-4444-8B1A-2AF89102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5" y="3591878"/>
            <a:ext cx="428625" cy="437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98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498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pPr>
            <a:r>
              <a:rPr sz="2498" b="0">
                <a:solidFill>
                  <a:srgbClr val="243445"/>
                </a:solidFill>
                <a:latin typeface="Cambria Math"/>
                <a:ea typeface="Cambria Math"/>
                <a:cs typeface="Cambria Math"/>
              </a:rPr>
              <a:t>Y</a:t>
            </a:r>
          </a:p>
        </p:txBody>
      </p:sp>
      <p:sp>
        <p:nvSpPr>
          <p:cNvPr id="55" name="167-C × 2H × 2W">
            <a:extLst xmlns:a="http://schemas.openxmlformats.org/drawingml/2006/main">
              <a:ext uri="{FF2B5EF4-FFF2-40B4-BE49-F238E27FC236}">
                <a16:creationId xmlns:a16="http://schemas.microsoft.com/office/drawing/2014/main" id="{7F193E68-C134-45B3-B8E2-29A56360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4174808"/>
            <a:ext cx="1585913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52" b="0">
                <a:solidFill>
                  <a:srgbClr val="637386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1552" b="0">
                <a:solidFill>
                  <a:srgbClr val="637386"/>
                </a:solidFill>
                <a:latin typeface="Cambria Math"/>
                <a:ea typeface="Cambria Math"/>
                <a:cs typeface="Cambria Math"/>
              </a:defRPr>
            </a:pPr>
            <a:r>
              <a:rPr sz="1552" b="0">
                <a:solidFill>
                  <a:srgbClr val="637386"/>
                </a:solidFill>
                <a:latin typeface="Cambria Math"/>
                <a:ea typeface="Cambria Math"/>
                <a:cs typeface="Cambria Math"/>
              </a:rPr>
              <a:t>C × 2H × 2W</a:t>
            </a:r>
          </a:p>
        </p:txBody>
      </p:sp>
      <p:sp>
        <p:nvSpPr>
          <p:cNvPr id="56" name="168-Y = (1 − G) ⊙ N + G ⊙ B">
            <a:extLst xmlns:a="http://schemas.openxmlformats.org/drawingml/2006/main">
              <a:ext uri="{FF2B5EF4-FFF2-40B4-BE49-F238E27FC236}">
                <a16:creationId xmlns:a16="http://schemas.microsoft.com/office/drawing/2014/main" id="{95928674-74D6-4CBE-A866-331B6B9D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583680"/>
            <a:ext cx="12687300" cy="4457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98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defPPr>
          </a:lstStyle>
          <a:p xmlns:a="http://schemas.openxmlformats.org/drawingml/2006/main">
            <a:pPr algn="ctr">
              <a:defRPr sz="2498" b="0">
                <a:solidFill>
                  <a:srgbClr val="243445"/>
                </a:solidFill>
                <a:latin typeface="Cambria Math"/>
                <a:ea typeface="Cambria Math"/>
                <a:cs typeface="Cambria Math"/>
              </a:defRPr>
            </a:pPr>
            <a:r>
              <a:rPr sz="2498" b="0">
                <a:solidFill>
                  <a:srgbClr val="243445"/>
                </a:solidFill>
                <a:latin typeface="Cambria Math"/>
                <a:ea typeface="Cambria Math"/>
                <a:cs typeface="Cambria Math"/>
              </a:rPr>
              <a:t>Y = (1 − G) ⊙ N + G ⊙ B</a:t>
            </a:r>
          </a:p>
        </p:txBody>
      </p:sp>
      <p:sp>
        <p:nvSpPr>
          <p:cNvPr id="57" name="169-Shared across channels">
            <a:extLst xmlns:a="http://schemas.openxmlformats.org/drawingml/2006/main">
              <a:ext uri="{FF2B5EF4-FFF2-40B4-BE49-F238E27FC236}">
                <a16:creationId xmlns:a16="http://schemas.microsoft.com/office/drawing/2014/main" id="{0253FC3F-5106-46A9-A072-B3FCDE7C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158038"/>
            <a:ext cx="39433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52" b="0">
                <a:solidFill>
                  <a:srgbClr val="6373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52" b="0">
                <a:solidFill>
                  <a:srgbClr val="637386"/>
                </a:solidFill>
                <a:latin typeface="Arial"/>
                <a:ea typeface="Arial"/>
                <a:cs typeface="Arial"/>
              </a:defRPr>
            </a:pPr>
            <a:r>
              <a:rPr sz="1552" b="0">
                <a:solidFill>
                  <a:srgbClr val="637386"/>
                </a:solidFill>
                <a:latin typeface="Arial"/>
                <a:ea typeface="Arial"/>
                <a:cs typeface="Arial"/>
              </a:rPr>
              <a:t>Shared across channels</a:t>
            </a:r>
          </a:p>
        </p:txBody>
      </p:sp>
      <p:sp>
        <p:nvSpPr>
          <p:cNvPr id="58" name="170-Initial G = 0.05">
            <a:extLst xmlns:a="http://schemas.openxmlformats.org/drawingml/2006/main">
              <a:ext uri="{FF2B5EF4-FFF2-40B4-BE49-F238E27FC236}">
                <a16:creationId xmlns:a16="http://schemas.microsoft.com/office/drawing/2014/main" id="{2E532D6B-8DD9-403F-B183-C232A7B5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363" y="7158038"/>
            <a:ext cx="334327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52" b="0">
                <a:solidFill>
                  <a:srgbClr val="6373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52" b="0">
                <a:solidFill>
                  <a:srgbClr val="637386"/>
                </a:solidFill>
                <a:latin typeface="Arial"/>
                <a:ea typeface="Arial"/>
                <a:cs typeface="Arial"/>
              </a:defRPr>
            </a:pPr>
            <a:r>
              <a:rPr sz="1552" b="0">
                <a:solidFill>
                  <a:srgbClr val="637386"/>
                </a:solidFill>
                <a:latin typeface="Arial"/>
                <a:ea typeface="Arial"/>
                <a:cs typeface="Arial"/>
              </a:rPr>
              <a:t>Initial G = 0.05</a:t>
            </a:r>
          </a:p>
        </p:txBody>
      </p:sp>
      <p:sp>
        <p:nvSpPr>
          <p:cNvPr id="59" name="171-Nearest upsampling of the gate">
            <a:extLst xmlns:a="http://schemas.openxmlformats.org/drawingml/2006/main">
              <a:ext uri="{FF2B5EF4-FFF2-40B4-BE49-F238E27FC236}">
                <a16:creationId xmlns:a16="http://schemas.microsoft.com/office/drawing/2014/main" id="{6B34C38F-5152-48CB-AF66-9886A577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7158038"/>
            <a:ext cx="46291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52" b="0">
                <a:solidFill>
                  <a:srgbClr val="6373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552" b="0">
                <a:solidFill>
                  <a:srgbClr val="637386"/>
                </a:solidFill>
                <a:latin typeface="Arial"/>
                <a:ea typeface="Arial"/>
                <a:cs typeface="Arial"/>
              </a:defRPr>
            </a:pPr>
            <a:r>
              <a:rPr sz="1552" b="0">
                <a:solidFill>
                  <a:srgbClr val="637386"/>
                </a:solidFill>
                <a:latin typeface="Arial"/>
                <a:ea typeface="Arial"/>
                <a:cs typeface="Arial"/>
              </a:rPr>
              <a:t>Nearest upsampling of the gate</a:t>
            </a:r>
          </a:p>
        </p:txBody>
      </p:sp>
      <p:sp>
        <p:nvSpPr>
          <p:cNvPr id="60" name="172-flow">
            <a:extLst xmlns:a="http://schemas.openxmlformats.org/drawingml/2006/main">
              <a:ext uri="{FF2B5EF4-FFF2-40B4-BE49-F238E27FC236}">
                <a16:creationId xmlns:a16="http://schemas.microsoft.com/office/drawing/2014/main" id="{B437B2CD-5D71-4FE0-A3E6-0C8509D2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689533"/>
            <a:ext cx="12687300" cy="8573"/>
          </a:xfrm>
          <a:custGeom xmlns:a="http://schemas.openxmlformats.org/drawingml/2006/main">
            <a:pathLst>
              <a:path w="14097000" h="9525">
                <a:moveTo>
                  <a:pt x="0" y="0"/>
                </a:moveTo>
                <a:lnTo>
                  <a:pt x="14097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CBD3DC"/>
            </a:solidFill>
            <a:prstDash val="solid"/>
          </a:ln>
        </p:spPr>
      </p:sp>
      <p:sp>
        <p:nvSpPr>
          <p:cNvPr id="61" name="173-Top-down FPN">
            <a:extLst xmlns:a="http://schemas.openxmlformats.org/drawingml/2006/main">
              <a:ext uri="{FF2B5EF4-FFF2-40B4-BE49-F238E27FC236}">
                <a16:creationId xmlns:a16="http://schemas.microsoft.com/office/drawing/2014/main" id="{9097AC71-6CC7-495E-9F51-6361D1B5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955280"/>
            <a:ext cx="205740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52" b="0">
                <a:solidFill>
                  <a:srgbClr val="63738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52" b="0">
                <a:solidFill>
                  <a:srgbClr val="637386"/>
                </a:solidFill>
                <a:latin typeface="Arial"/>
                <a:ea typeface="Arial"/>
                <a:cs typeface="Arial"/>
              </a:defRPr>
            </a:pPr>
            <a:r>
              <a:rPr sz="1552" b="0">
                <a:solidFill>
                  <a:srgbClr val="637386"/>
                </a:solidFill>
                <a:latin typeface="Arial"/>
                <a:ea typeface="Arial"/>
                <a:cs typeface="Arial"/>
              </a:rPr>
              <a:t>Top-down FPN</a:t>
            </a:r>
          </a:p>
        </p:txBody>
      </p:sp>
      <p:sp>
        <p:nvSpPr>
          <p:cNvPr id="62" name="174-GIU output">
            <a:extLst xmlns:a="http://schemas.openxmlformats.org/drawingml/2006/main">
              <a:ext uri="{FF2B5EF4-FFF2-40B4-BE49-F238E27FC236}">
                <a16:creationId xmlns:a16="http://schemas.microsoft.com/office/drawing/2014/main" id="{179E4CB3-1449-4723-8A52-D97DA267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7869555"/>
            <a:ext cx="1885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88" b="0">
                <a:solidFill>
                  <a:srgbClr val="2434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88" b="0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1688" b="0">
                <a:solidFill>
                  <a:srgbClr val="243445"/>
                </a:solidFill>
                <a:latin typeface="Arial"/>
                <a:ea typeface="Arial"/>
                <a:cs typeface="Arial"/>
              </a:rPr>
              <a:t>GIU output</a:t>
            </a:r>
          </a:p>
        </p:txBody>
      </p:sp>
      <p:sp>
        <p:nvSpPr>
          <p:cNvPr id="63" name="175-flow">
            <a:extLst xmlns:a="http://schemas.openxmlformats.org/drawingml/2006/main">
              <a:ext uri="{FF2B5EF4-FFF2-40B4-BE49-F238E27FC236}">
                <a16:creationId xmlns:a16="http://schemas.microsoft.com/office/drawing/2014/main" id="{960C78A7-08F4-4F35-AE52-B6B3C819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8083868"/>
            <a:ext cx="600075" cy="8573"/>
          </a:xfrm>
          <a:custGeom xmlns:a="http://schemas.openxmlformats.org/drawingml/2006/main"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64" name="176-arrowhead">
            <a:extLst xmlns:a="http://schemas.openxmlformats.org/drawingml/2006/main">
              <a:ext uri="{FF2B5EF4-FFF2-40B4-BE49-F238E27FC236}">
                <a16:creationId xmlns:a16="http://schemas.microsoft.com/office/drawing/2014/main" id="{3DF25BEF-C4A9-4E59-AC57-893B4DC7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9798" y="8047863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65" name="177-Concat">
            <a:extLst xmlns:a="http://schemas.openxmlformats.org/drawingml/2006/main">
              <a:ext uri="{FF2B5EF4-FFF2-40B4-BE49-F238E27FC236}">
                <a16:creationId xmlns:a16="http://schemas.microsoft.com/office/drawing/2014/main" id="{4B5CBB0A-141A-4C7B-8F2B-806511083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7869555"/>
            <a:ext cx="1285875" cy="428625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EE9F7"/>
          </a:solidFill>
          <a:ln xmlns:a="http://schemas.openxmlformats.org/drawingml/2006/main" w="16193">
            <a:solidFill>
              <a:srgbClr val="8B78AE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552">
                <a:solidFill>
                  <a:srgbClr val="2434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52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1552">
                <a:solidFill>
                  <a:srgbClr val="243445"/>
                </a:solidFill>
                <a:latin typeface="Arial"/>
                <a:ea typeface="Arial"/>
                <a:cs typeface="Arial"/>
              </a:rPr>
              <a:t>Concat</a:t>
            </a:r>
          </a:p>
        </p:txBody>
      </p:sp>
      <p:sp>
        <p:nvSpPr>
          <p:cNvPr id="66" name="178-flow">
            <a:extLst xmlns:a="http://schemas.openxmlformats.org/drawingml/2006/main">
              <a:ext uri="{FF2B5EF4-FFF2-40B4-BE49-F238E27FC236}">
                <a16:creationId xmlns:a16="http://schemas.microsoft.com/office/drawing/2014/main" id="{9C58B278-4B18-4F4B-9427-74790376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8083868"/>
            <a:ext cx="1114425" cy="8573"/>
          </a:xfrm>
          <a:custGeom xmlns:a="http://schemas.openxmlformats.org/drawingml/2006/main">
            <a:pathLst>
              <a:path w="1238250" h="9525">
                <a:moveTo>
                  <a:pt x="0" y="0"/>
                </a:moveTo>
                <a:lnTo>
                  <a:pt x="1238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67" name="179-arrowhead">
            <a:extLst xmlns:a="http://schemas.openxmlformats.org/drawingml/2006/main">
              <a:ext uri="{FF2B5EF4-FFF2-40B4-BE49-F238E27FC236}">
                <a16:creationId xmlns:a16="http://schemas.microsoft.com/office/drawing/2014/main" id="{72EA4FA8-8692-4FF8-A341-05F08D3E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0098" y="8047863"/>
            <a:ext cx="77153" cy="72009"/>
          </a:xfrm>
          <a:custGeom xmlns:a="http://schemas.openxmlformats.org/drawingml/2006/main">
            <a:pathLst>
              <a:path w="85725" h="80010">
                <a:moveTo>
                  <a:pt x="85725" y="40005"/>
                </a:moveTo>
                <a:lnTo>
                  <a:pt x="0" y="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  <p:sp>
        <p:nvSpPr>
          <p:cNvPr id="68" name="180-C2f">
            <a:extLst xmlns:a="http://schemas.openxmlformats.org/drawingml/2006/main">
              <a:ext uri="{FF2B5EF4-FFF2-40B4-BE49-F238E27FC236}">
                <a16:creationId xmlns:a16="http://schemas.microsoft.com/office/drawing/2014/main" id="{31DAEFCD-0420-4999-8C72-2E8FA19F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869555"/>
            <a:ext cx="1114425" cy="428625"/>
          </a:xfrm>
          <a:prstGeom xmlns:a="http://schemas.openxmlformats.org/drawingml/2006/main" prst="roundRect">
            <a:avLst>
              <a:gd name="adj" fmla="val 15556"/>
            </a:avLst>
          </a:prstGeom>
          <a:solidFill xmlns:a="http://schemas.openxmlformats.org/drawingml/2006/main">
            <a:srgbClr val="E7EFFA"/>
          </a:solidFill>
          <a:ln xmlns:a="http://schemas.openxmlformats.org/drawingml/2006/main" w="16193">
            <a:solidFill>
              <a:srgbClr val="6186B5"/>
            </a:solidFill>
            <a:prstDash val="solid"/>
          </a:ln>
        </p:spPr>
        <p:txBody>
          <a:bodyPr xmlns:a="http://schemas.openxmlformats.org/drawingml/2006/main" wrap="none" lIns="28575" tIns="28575" rIns="28575" bIns="28575" anchor="ctr">
            <a:noAutofit/>
          </a:bodyPr>
          <a:lstStyle xmlns:a="http://schemas.openxmlformats.org/drawingml/2006/main">
            <a:defPPr algn="ctr">
              <a:defRPr sz="1620">
                <a:solidFill>
                  <a:srgbClr val="2434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20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1620">
                <a:solidFill>
                  <a:srgbClr val="243445"/>
                </a:solidFill>
                <a:latin typeface="Arial"/>
                <a:ea typeface="Arial"/>
                <a:cs typeface="Arial"/>
              </a:rPr>
              <a:t>C2f</a:t>
            </a:r>
          </a:p>
        </p:txBody>
      </p:sp>
      <p:sp>
        <p:nvSpPr>
          <p:cNvPr id="69" name="181-Lateral P4 / P3">
            <a:extLst xmlns:a="http://schemas.openxmlformats.org/drawingml/2006/main">
              <a:ext uri="{FF2B5EF4-FFF2-40B4-BE49-F238E27FC236}">
                <a16:creationId xmlns:a16="http://schemas.microsoft.com/office/drawing/2014/main" id="{F969422F-135A-42CA-976D-725DC5AE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7869555"/>
            <a:ext cx="2057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20" b="0">
                <a:solidFill>
                  <a:srgbClr val="2434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20" b="0">
                <a:solidFill>
                  <a:srgbClr val="243445"/>
                </a:solidFill>
                <a:latin typeface="Arial"/>
                <a:ea typeface="Arial"/>
                <a:cs typeface="Arial"/>
              </a:defRPr>
            </a:pPr>
            <a:r>
              <a:rPr sz="1620" b="0">
                <a:solidFill>
                  <a:srgbClr val="243445"/>
                </a:solidFill>
                <a:latin typeface="Arial"/>
                <a:ea typeface="Arial"/>
                <a:cs typeface="Arial"/>
              </a:rPr>
              <a:t>Lateral P4 / P3</a:t>
            </a:r>
          </a:p>
        </p:txBody>
      </p:sp>
      <p:sp>
        <p:nvSpPr>
          <p:cNvPr id="70" name="182-flow">
            <a:extLst xmlns:a="http://schemas.openxmlformats.org/drawingml/2006/main">
              <a:ext uri="{FF2B5EF4-FFF2-40B4-BE49-F238E27FC236}">
                <a16:creationId xmlns:a16="http://schemas.microsoft.com/office/drawing/2014/main" id="{91EF577F-75DE-43B6-9A3C-90F1CCE0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9888" y="8083868"/>
            <a:ext cx="3729038" cy="360045"/>
          </a:xfrm>
          <a:custGeom xmlns:a="http://schemas.openxmlformats.org/drawingml/2006/main">
            <a:pathLst>
              <a:path w="4143375" h="400050">
                <a:moveTo>
                  <a:pt x="4143375" y="0"/>
                </a:moveTo>
                <a:lnTo>
                  <a:pt x="3714750" y="0"/>
                </a:lnTo>
                <a:lnTo>
                  <a:pt x="3714750" y="400050"/>
                </a:lnTo>
                <a:lnTo>
                  <a:pt x="0" y="400050"/>
                </a:lnTo>
                <a:lnTo>
                  <a:pt x="0" y="238125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435466"/>
            </a:solidFill>
            <a:prstDash val="solid"/>
          </a:ln>
        </p:spPr>
      </p:sp>
      <p:sp>
        <p:nvSpPr>
          <p:cNvPr id="71" name="183-arrowhead">
            <a:extLst xmlns:a="http://schemas.openxmlformats.org/drawingml/2006/main">
              <a:ext uri="{FF2B5EF4-FFF2-40B4-BE49-F238E27FC236}">
                <a16:creationId xmlns:a16="http://schemas.microsoft.com/office/drawing/2014/main" id="{C5EEFCEC-55CF-44F0-A914-2917A92A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3883" y="8298180"/>
            <a:ext cx="72009" cy="77153"/>
          </a:xfrm>
          <a:custGeom xmlns:a="http://schemas.openxmlformats.org/drawingml/2006/main">
            <a:pathLst>
              <a:path w="80010" h="85725">
                <a:moveTo>
                  <a:pt x="40005" y="0"/>
                </a:moveTo>
                <a:lnTo>
                  <a:pt x="0" y="85725"/>
                </a:lnTo>
                <a:lnTo>
                  <a:pt x="80010" y="85725"/>
                </a:lnTo>
                <a:close/>
              </a:path>
            </a:pathLst>
          </a:custGeom>
          <a:solidFill xmlns:a="http://schemas.openxmlformats.org/drawingml/2006/main">
            <a:srgbClr val="435466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988536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2026-10-19T12:49:56.6450000Z</dcterms:created>
  <dcterms:modified xsi:type="dcterms:W3CDTF">2026-10-19T12:49:56.6450000Z</dcterms:modified>
</coreProperties>
</file>